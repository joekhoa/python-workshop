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84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F796D6-BA51-46C4-85A0-21C3E8FFDC83}" v="4" dt="2026-07-27T02:46:09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g Khoa Pham" userId="a0828928-506b-41e7-91fe-334565ca4eb5" providerId="ADAL" clId="{07F4103E-4D85-4DDD-92DF-5DC143FDFFF6}"/>
    <pc:docChg chg="undo custSel addSld delSld modSld modShowInfo">
      <pc:chgData name="Dang Khoa Pham" userId="a0828928-506b-41e7-91fe-334565ca4eb5" providerId="ADAL" clId="{07F4103E-4D85-4DDD-92DF-5DC143FDFFF6}" dt="2026-07-27T02:48:09.217" v="383" actId="14100"/>
      <pc:docMkLst>
        <pc:docMk/>
      </pc:docMkLst>
      <pc:sldChg chg="addSp delSp modSp mod">
        <pc:chgData name="Dang Khoa Pham" userId="a0828928-506b-41e7-91fe-334565ca4eb5" providerId="ADAL" clId="{07F4103E-4D85-4DDD-92DF-5DC143FDFFF6}" dt="2026-07-26T11:39:01.977" v="312" actId="20577"/>
        <pc:sldMkLst>
          <pc:docMk/>
          <pc:sldMk cId="0" sldId="256"/>
        </pc:sldMkLst>
        <pc:spChg chg="mod">
          <ac:chgData name="Dang Khoa Pham" userId="a0828928-506b-41e7-91fe-334565ca4eb5" providerId="ADAL" clId="{07F4103E-4D85-4DDD-92DF-5DC143FDFFF6}" dt="2026-07-26T11:37:42.124" v="258" actId="20577"/>
          <ac:spMkLst>
            <pc:docMk/>
            <pc:sldMk cId="0" sldId="256"/>
            <ac:spMk id="4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56.442" v="259" actId="478"/>
          <ac:spMkLst>
            <pc:docMk/>
            <pc:sldMk cId="0" sldId="256"/>
            <ac:spMk id="20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56.442" v="259" actId="478"/>
          <ac:spMkLst>
            <pc:docMk/>
            <pc:sldMk cId="0" sldId="256"/>
            <ac:spMk id="21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32.149" v="251" actId="478"/>
          <ac:spMkLst>
            <pc:docMk/>
            <pc:sldMk cId="0" sldId="256"/>
            <ac:spMk id="22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33.101" v="252" actId="478"/>
          <ac:spMkLst>
            <pc:docMk/>
            <pc:sldMk cId="0" sldId="256"/>
            <ac:spMk id="23" creationId="{00000000-0000-0000-0000-000000000000}"/>
          </ac:spMkLst>
        </pc:spChg>
        <pc:spChg chg="del mod">
          <ac:chgData name="Dang Khoa Pham" userId="a0828928-506b-41e7-91fe-334565ca4eb5" providerId="ADAL" clId="{07F4103E-4D85-4DDD-92DF-5DC143FDFFF6}" dt="2026-07-26T11:37:35.003" v="254" actId="478"/>
          <ac:spMkLst>
            <pc:docMk/>
            <pc:sldMk cId="0" sldId="256"/>
            <ac:spMk id="2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8:34.650" v="279" actId="1076"/>
          <ac:spMkLst>
            <pc:docMk/>
            <pc:sldMk cId="0" sldId="256"/>
            <ac:spMk id="44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6T01:20:50.485" v="218" actId="20577"/>
          <ac:spMkLst>
            <pc:docMk/>
            <pc:sldMk cId="0" sldId="256"/>
            <ac:spMk id="46" creationId="{7C7CDE32-4439-98CD-C106-B05A724ECD83}"/>
          </ac:spMkLst>
        </pc:spChg>
        <pc:spChg chg="add mod">
          <ac:chgData name="Dang Khoa Pham" userId="a0828928-506b-41e7-91fe-334565ca4eb5" providerId="ADAL" clId="{07F4103E-4D85-4DDD-92DF-5DC143FDFFF6}" dt="2026-07-26T11:39:01.977" v="312" actId="20577"/>
          <ac:spMkLst>
            <pc:docMk/>
            <pc:sldMk cId="0" sldId="256"/>
            <ac:spMk id="48" creationId="{4B322294-D7B6-BFDC-5E53-6A3DFFD4E775}"/>
          </ac:spMkLst>
        </pc:spChg>
        <pc:picChg chg="add mod">
          <ac:chgData name="Dang Khoa Pham" userId="a0828928-506b-41e7-91fe-334565ca4eb5" providerId="ADAL" clId="{07F4103E-4D85-4DDD-92DF-5DC143FDFFF6}" dt="2026-07-26T01:15:07.300" v="79" actId="1076"/>
          <ac:picMkLst>
            <pc:docMk/>
            <pc:sldMk cId="0" sldId="256"/>
            <ac:picMk id="45" creationId="{9FBBAC53-E0EE-AF99-B3FE-D013C7955420}"/>
          </ac:picMkLst>
        </pc:picChg>
      </pc:sldChg>
      <pc:sldChg chg="modSp mod">
        <pc:chgData name="Dang Khoa Pham" userId="a0828928-506b-41e7-91fe-334565ca4eb5" providerId="ADAL" clId="{07F4103E-4D85-4DDD-92DF-5DC143FDFFF6}" dt="2026-07-26T11:39:14.347" v="314" actId="14100"/>
        <pc:sldMkLst>
          <pc:docMk/>
          <pc:sldMk cId="0" sldId="257"/>
        </pc:sldMkLst>
        <pc:spChg chg="mod">
          <ac:chgData name="Dang Khoa Pham" userId="a0828928-506b-41e7-91fe-334565ca4eb5" providerId="ADAL" clId="{07F4103E-4D85-4DDD-92DF-5DC143FDFFF6}" dt="2026-07-26T11:39:12.044" v="313" actId="14100"/>
          <ac:spMkLst>
            <pc:docMk/>
            <pc:sldMk cId="0" sldId="257"/>
            <ac:spMk id="3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38.568" v="220" actId="1076"/>
          <ac:spMkLst>
            <pc:docMk/>
            <pc:sldMk cId="0" sldId="257"/>
            <ac:spMk id="3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9:14.347" v="314" actId="14100"/>
          <ac:spMkLst>
            <pc:docMk/>
            <pc:sldMk cId="0" sldId="257"/>
            <ac:spMk id="3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41.788" v="221" actId="1076"/>
          <ac:spMkLst>
            <pc:docMk/>
            <pc:sldMk cId="0" sldId="257"/>
            <ac:spMk id="3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32:11.061" v="250" actId="20577"/>
        <pc:sldMkLst>
          <pc:docMk/>
          <pc:sldMk cId="0" sldId="258"/>
        </pc:sldMkLst>
        <pc:spChg chg="mod">
          <ac:chgData name="Dang Khoa Pham" userId="a0828928-506b-41e7-91fe-334565ca4eb5" providerId="ADAL" clId="{07F4103E-4D85-4DDD-92DF-5DC143FDFFF6}" dt="2026-07-26T11:32:07.256" v="249" actId="20577"/>
          <ac:spMkLst>
            <pc:docMk/>
            <pc:sldMk cId="0" sldId="258"/>
            <ac:spMk id="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2:11.061" v="250" actId="20577"/>
          <ac:spMkLst>
            <pc:docMk/>
            <pc:sldMk cId="0" sldId="258"/>
            <ac:spMk id="10" creationId="{00000000-0000-0000-0000-000000000000}"/>
          </ac:spMkLst>
        </pc:spChg>
      </pc:sldChg>
      <pc:sldChg chg="delSp modSp mod">
        <pc:chgData name="Dang Khoa Pham" userId="a0828928-506b-41e7-91fe-334565ca4eb5" providerId="ADAL" clId="{07F4103E-4D85-4DDD-92DF-5DC143FDFFF6}" dt="2026-07-26T11:30:52.497" v="246" actId="14100"/>
        <pc:sldMkLst>
          <pc:docMk/>
          <pc:sldMk cId="0" sldId="259"/>
        </pc:sldMkLst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21.624" v="2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41.573" v="244" actId="14100"/>
          <ac:spMkLst>
            <pc:docMk/>
            <pc:sldMk cId="0" sldId="259"/>
            <ac:spMk id="2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52.497" v="246" actId="14100"/>
          <ac:spMkLst>
            <pc:docMk/>
            <pc:sldMk cId="0" sldId="259"/>
            <ac:spMk id="2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21.624" v="234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3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35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6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7" creationId="{00000000-0000-0000-0000-000000000000}"/>
          </ac:spMkLst>
        </pc:spChg>
        <pc:spChg chg="del mod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54.269" v="223" actId="14100"/>
          <ac:spMkLst>
            <pc:docMk/>
            <pc:sldMk cId="0" sldId="259"/>
            <ac:spMk id="39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39:34.771" v="315" actId="14100"/>
        <pc:sldMkLst>
          <pc:docMk/>
          <pc:sldMk cId="0" sldId="260"/>
        </pc:sldMkLst>
        <pc:spChg chg="mod">
          <ac:chgData name="Dang Khoa Pham" userId="a0828928-506b-41e7-91fe-334565ca4eb5" providerId="ADAL" clId="{07F4103E-4D85-4DDD-92DF-5DC143FDFFF6}" dt="2026-07-26T11:39:34.771" v="315" actId="14100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7T02:48:09.217" v="383" actId="14100"/>
        <pc:sldMkLst>
          <pc:docMk/>
          <pc:sldMk cId="0" sldId="261"/>
        </pc:sldMkLst>
        <pc:spChg chg="mod">
          <ac:chgData name="Dang Khoa Pham" userId="a0828928-506b-41e7-91fe-334565ca4eb5" providerId="ADAL" clId="{07F4103E-4D85-4DDD-92DF-5DC143FDFFF6}" dt="2026-07-27T02:48:09.217" v="383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8:06.890" v="382" actId="14100"/>
          <ac:spMkLst>
            <pc:docMk/>
            <pc:sldMk cId="0" sldId="261"/>
            <ac:spMk id="12" creationId="{00000000-0000-0000-0000-000000000000}"/>
          </ac:spMkLst>
        </pc:spChg>
      </pc:sldChg>
      <pc:sldChg chg="addSp modSp del mod">
        <pc:chgData name="Dang Khoa Pham" userId="a0828928-506b-41e7-91fe-334565ca4eb5" providerId="ADAL" clId="{07F4103E-4D85-4DDD-92DF-5DC143FDFFF6}" dt="2026-07-27T02:47:43.955" v="381" actId="47"/>
        <pc:sldMkLst>
          <pc:docMk/>
          <pc:sldMk cId="0" sldId="262"/>
        </pc:sldMkLst>
        <pc:spChg chg="mod">
          <ac:chgData name="Dang Khoa Pham" userId="a0828928-506b-41e7-91fe-334565ca4eb5" providerId="ADAL" clId="{07F4103E-4D85-4DDD-92DF-5DC143FDFFF6}" dt="2026-07-24T13:21:53.437" v="3"/>
          <ac:spMkLst>
            <pc:docMk/>
            <pc:sldMk cId="0" sldId="262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7:13.507" v="82" actId="14100"/>
          <ac:spMkLst>
            <pc:docMk/>
            <pc:sldMk cId="0" sldId="262"/>
            <ac:spMk id="1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7:18.618" v="84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1:31.984" v="248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1:31.984" v="248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8:08.798" v="225" actId="14100"/>
          <ac:spMkLst>
            <pc:docMk/>
            <pc:sldMk cId="0" sldId="262"/>
            <ac:spMk id="26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6T01:19:54.779" v="214" actId="1076"/>
          <ac:spMkLst>
            <pc:docMk/>
            <pc:sldMk cId="0" sldId="262"/>
            <ac:spMk id="29" creationId="{BC84F7F1-9F9D-66AB-A11F-9ADF9023D9B7}"/>
          </ac:spMkLst>
        </pc:spChg>
      </pc:sldChg>
      <pc:sldChg chg="modSp mod">
        <pc:chgData name="Dang Khoa Pham" userId="a0828928-506b-41e7-91fe-334565ca4eb5" providerId="ADAL" clId="{07F4103E-4D85-4DDD-92DF-5DC143FDFFF6}" dt="2026-07-26T01:14:59.719" v="24" actId="27636"/>
        <pc:sldMkLst>
          <pc:docMk/>
          <pc:sldMk cId="0" sldId="266"/>
        </pc:sldMkLst>
        <pc:spChg chg="mod">
          <ac:chgData name="Dang Khoa Pham" userId="a0828928-506b-41e7-91fe-334565ca4eb5" providerId="ADAL" clId="{07F4103E-4D85-4DDD-92DF-5DC143FDFFF6}" dt="2026-07-26T01:14:59.719" v="22" actId="276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19" v="23" actId="27636"/>
          <ac:spMkLst>
            <pc:docMk/>
            <pc:sldMk cId="0" sldId="266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19" v="24" actId="27636"/>
          <ac:spMkLst>
            <pc:docMk/>
            <pc:sldMk cId="0" sldId="266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48" v="27" actId="27636"/>
        <pc:sldMkLst>
          <pc:docMk/>
          <pc:sldMk cId="0" sldId="268"/>
        </pc:sldMkLst>
        <pc:spChg chg="mod">
          <ac:chgData name="Dang Khoa Pham" userId="a0828928-506b-41e7-91fe-334565ca4eb5" providerId="ADAL" clId="{07F4103E-4D85-4DDD-92DF-5DC143FDFFF6}" dt="2026-07-26T01:14:59.748" v="27" actId="276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44" v="26" actId="276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37" v="25" actId="27636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66" v="32" actId="27636"/>
        <pc:sldMkLst>
          <pc:docMk/>
          <pc:sldMk cId="0" sldId="270"/>
        </pc:sldMkLst>
        <pc:spChg chg="mod">
          <ac:chgData name="Dang Khoa Pham" userId="a0828928-506b-41e7-91fe-334565ca4eb5" providerId="ADAL" clId="{07F4103E-4D85-4DDD-92DF-5DC143FDFFF6}" dt="2026-07-26T01:14:59.764" v="29" actId="276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1" actId="276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59" v="28" actId="27636"/>
          <ac:spMkLst>
            <pc:docMk/>
            <pc:sldMk cId="0" sldId="270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0" actId="27636"/>
          <ac:spMkLst>
            <pc:docMk/>
            <pc:sldMk cId="0" sldId="270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2" actId="27636"/>
          <ac:spMkLst>
            <pc:docMk/>
            <pc:sldMk cId="0" sldId="270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85" v="35" actId="27636"/>
        <pc:sldMkLst>
          <pc:docMk/>
          <pc:sldMk cId="0" sldId="271"/>
        </pc:sldMkLst>
        <pc:spChg chg="mod">
          <ac:chgData name="Dang Khoa Pham" userId="a0828928-506b-41e7-91fe-334565ca4eb5" providerId="ADAL" clId="{07F4103E-4D85-4DDD-92DF-5DC143FDFFF6}" dt="2026-07-26T01:14:59.785" v="35" actId="27636"/>
          <ac:spMkLst>
            <pc:docMk/>
            <pc:sldMk cId="0" sldId="271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85" v="33" actId="276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85" v="34" actId="27636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16" v="37" actId="27636"/>
        <pc:sldMkLst>
          <pc:docMk/>
          <pc:sldMk cId="0" sldId="272"/>
        </pc:sldMkLst>
        <pc:spChg chg="mod">
          <ac:chgData name="Dang Khoa Pham" userId="a0828928-506b-41e7-91fe-334565ca4eb5" providerId="ADAL" clId="{07F4103E-4D85-4DDD-92DF-5DC143FDFFF6}" dt="2026-07-26T01:14:59.816" v="37" actId="27636"/>
          <ac:spMkLst>
            <pc:docMk/>
            <pc:sldMk cId="0" sldId="272"/>
            <ac:spMk id="2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01" v="36" actId="27636"/>
          <ac:spMkLst>
            <pc:docMk/>
            <pc:sldMk cId="0" sldId="272"/>
            <ac:spMk id="26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30" v="40" actId="27636"/>
        <pc:sldMkLst>
          <pc:docMk/>
          <pc:sldMk cId="0" sldId="273"/>
        </pc:sldMkLst>
        <pc:spChg chg="mod">
          <ac:chgData name="Dang Khoa Pham" userId="a0828928-506b-41e7-91fe-334565ca4eb5" providerId="ADAL" clId="{07F4103E-4D85-4DDD-92DF-5DC143FDFFF6}" dt="2026-07-26T01:14:59.820" v="38" actId="27636"/>
          <ac:spMkLst>
            <pc:docMk/>
            <pc:sldMk cId="0" sldId="273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30" v="40" actId="27636"/>
          <ac:spMkLst>
            <pc:docMk/>
            <pc:sldMk cId="0" sldId="273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20" v="39" actId="27636"/>
          <ac:spMkLst>
            <pc:docMk/>
            <pc:sldMk cId="0" sldId="273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48" v="44" actId="27636"/>
        <pc:sldMkLst>
          <pc:docMk/>
          <pc:sldMk cId="0" sldId="274"/>
        </pc:sldMkLst>
        <pc:spChg chg="mod">
          <ac:chgData name="Dang Khoa Pham" userId="a0828928-506b-41e7-91fe-334565ca4eb5" providerId="ADAL" clId="{07F4103E-4D85-4DDD-92DF-5DC143FDFFF6}" dt="2026-07-26T01:14:59.830" v="41" actId="27636"/>
          <ac:spMkLst>
            <pc:docMk/>
            <pc:sldMk cId="0" sldId="274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4" actId="27636"/>
          <ac:spMkLst>
            <pc:docMk/>
            <pc:sldMk cId="0" sldId="274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3" actId="27636"/>
          <ac:spMkLst>
            <pc:docMk/>
            <pc:sldMk cId="0" sldId="274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2" actId="27636"/>
          <ac:spMkLst>
            <pc:docMk/>
            <pc:sldMk cId="0" sldId="274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7T02:45:16.518" v="361" actId="27636"/>
        <pc:sldMkLst>
          <pc:docMk/>
          <pc:sldMk cId="0" sldId="275"/>
        </pc:sldMkLst>
        <pc:spChg chg="mod">
          <ac:chgData name="Dang Khoa Pham" userId="a0828928-506b-41e7-91fe-334565ca4eb5" providerId="ADAL" clId="{07F4103E-4D85-4DDD-92DF-5DC143FDFFF6}" dt="2026-07-26T01:14:59.878" v="49" actId="276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5" actId="276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7" actId="276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6" actId="27636"/>
          <ac:spMkLst>
            <pc:docMk/>
            <pc:sldMk cId="0" sldId="275"/>
            <ac:spMk id="1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5:16.518" v="361" actId="27636"/>
          <ac:spMkLst>
            <pc:docMk/>
            <pc:sldMk cId="0" sldId="275"/>
            <ac:spMk id="1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909" v="53" actId="27636"/>
        <pc:sldMkLst>
          <pc:docMk/>
          <pc:sldMk cId="0" sldId="276"/>
        </pc:sldMkLst>
        <pc:spChg chg="mod">
          <ac:chgData name="Dang Khoa Pham" userId="a0828928-506b-41e7-91fe-334565ca4eb5" providerId="ADAL" clId="{07F4103E-4D85-4DDD-92DF-5DC143FDFFF6}" dt="2026-07-26T01:14:59.903" v="52" actId="2763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09" v="53" actId="27636"/>
          <ac:spMkLst>
            <pc:docMk/>
            <pc:sldMk cId="0" sldId="276"/>
            <ac:spMk id="1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95" v="50" actId="276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99" v="51" actId="27636"/>
          <ac:spMkLst>
            <pc:docMk/>
            <pc:sldMk cId="0" sldId="276"/>
            <ac:spMk id="16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7T02:45:16.633" v="362" actId="27636"/>
        <pc:sldMkLst>
          <pc:docMk/>
          <pc:sldMk cId="0" sldId="277"/>
        </pc:sldMkLst>
        <pc:spChg chg="mod">
          <ac:chgData name="Dang Khoa Pham" userId="a0828928-506b-41e7-91fe-334565ca4eb5" providerId="ADAL" clId="{07F4103E-4D85-4DDD-92DF-5DC143FDFFF6}" dt="2026-07-26T11:40:27.041" v="320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6" actId="27636"/>
          <ac:spMkLst>
            <pc:docMk/>
            <pc:sldMk cId="0" sldId="277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5:16.633" v="362" actId="27636"/>
          <ac:spMkLst>
            <pc:docMk/>
            <pc:sldMk cId="0" sldId="277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0:36.104" v="324" actId="404"/>
          <ac:spMkLst>
            <pc:docMk/>
            <pc:sldMk cId="0" sldId="277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5" actId="27636"/>
          <ac:spMkLst>
            <pc:docMk/>
            <pc:sldMk cId="0" sldId="277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40:44.029" v="326" actId="27636"/>
        <pc:sldMkLst>
          <pc:docMk/>
          <pc:sldMk cId="0" sldId="278"/>
        </pc:sldMkLst>
        <pc:spChg chg="mod">
          <ac:chgData name="Dang Khoa Pham" userId="a0828928-506b-41e7-91fe-334565ca4eb5" providerId="ADAL" clId="{07F4103E-4D85-4DDD-92DF-5DC143FDFFF6}" dt="2026-07-26T11:40:44.029" v="326" actId="27636"/>
          <ac:spMkLst>
            <pc:docMk/>
            <pc:sldMk cId="0" sldId="278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73" v="60" actId="27636"/>
          <ac:spMkLst>
            <pc:docMk/>
            <pc:sldMk cId="0" sldId="278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86" v="62" actId="276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73" v="59" actId="276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93" v="64" actId="276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89" v="63" actId="27636"/>
          <ac:spMkLst>
            <pc:docMk/>
            <pc:sldMk cId="0" sldId="278"/>
            <ac:spMk id="1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97" v="65" actId="27636"/>
          <ac:spMkLst>
            <pc:docMk/>
            <pc:sldMk cId="0" sldId="278"/>
            <ac:spMk id="1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7T02:45:16.677" v="363" actId="27636"/>
        <pc:sldMkLst>
          <pc:docMk/>
          <pc:sldMk cId="0" sldId="279"/>
        </pc:sldMkLst>
        <pc:spChg chg="mod">
          <ac:chgData name="Dang Khoa Pham" userId="a0828928-506b-41e7-91fe-334565ca4eb5" providerId="ADAL" clId="{07F4103E-4D85-4DDD-92DF-5DC143FDFFF6}" dt="2026-07-26T01:15:00.016" v="66" actId="27636"/>
          <ac:spMkLst>
            <pc:docMk/>
            <pc:sldMk cId="0" sldId="279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5:16.677" v="363" actId="27636"/>
          <ac:spMkLst>
            <pc:docMk/>
            <pc:sldMk cId="0" sldId="279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68" v="72" actId="27636"/>
          <ac:spMkLst>
            <pc:docMk/>
            <pc:sldMk cId="0" sldId="279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36" v="68" actId="27636"/>
          <ac:spMkLst>
            <pc:docMk/>
            <pc:sldMk cId="0" sldId="279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71" actId="27636"/>
          <ac:spMkLst>
            <pc:docMk/>
            <pc:sldMk cId="0" sldId="279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69" actId="27636"/>
          <ac:spMkLst>
            <pc:docMk/>
            <pc:sldMk cId="0" sldId="279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70" actId="27636"/>
          <ac:spMkLst>
            <pc:docMk/>
            <pc:sldMk cId="0" sldId="279"/>
            <ac:spMk id="17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5:00.105" v="78" actId="27636"/>
        <pc:sldMkLst>
          <pc:docMk/>
          <pc:sldMk cId="0" sldId="280"/>
        </pc:sldMkLst>
        <pc:spChg chg="mod">
          <ac:chgData name="Dang Khoa Pham" userId="a0828928-506b-41e7-91fe-334565ca4eb5" providerId="ADAL" clId="{07F4103E-4D85-4DDD-92DF-5DC143FDFFF6}" dt="2026-07-26T01:15:00.084" v="75" actId="27636"/>
          <ac:spMkLst>
            <pc:docMk/>
            <pc:sldMk cId="0" sldId="280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84" v="74" actId="2763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68" v="73" actId="27636"/>
          <ac:spMkLst>
            <pc:docMk/>
            <pc:sldMk cId="0" sldId="280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84" v="76" actId="27636"/>
          <ac:spMkLst>
            <pc:docMk/>
            <pc:sldMk cId="0" sldId="280"/>
            <ac:spMk id="2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100" v="77" actId="27636"/>
          <ac:spMkLst>
            <pc:docMk/>
            <pc:sldMk cId="0" sldId="280"/>
            <ac:spMk id="2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105" v="78" actId="27636"/>
          <ac:spMkLst>
            <pc:docMk/>
            <pc:sldMk cId="0" sldId="280"/>
            <ac:spMk id="2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42:32.898" v="359" actId="1076"/>
        <pc:sldMkLst>
          <pc:docMk/>
          <pc:sldMk cId="0" sldId="281"/>
        </pc:sldMkLst>
        <pc:spChg chg="mod">
          <ac:chgData name="Dang Khoa Pham" userId="a0828928-506b-41e7-91fe-334565ca4eb5" providerId="ADAL" clId="{07F4103E-4D85-4DDD-92DF-5DC143FDFFF6}" dt="2026-07-26T11:42:18.012" v="358" actId="1076"/>
          <ac:spMkLst>
            <pc:docMk/>
            <pc:sldMk cId="0" sldId="281"/>
            <ac:spMk id="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2:06.924" v="356" actId="1076"/>
          <ac:spMkLst>
            <pc:docMk/>
            <pc:sldMk cId="0" sldId="281"/>
            <ac:spMk id="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2:06.924" v="356" actId="1076"/>
          <ac:spMkLst>
            <pc:docMk/>
            <pc:sldMk cId="0" sldId="281"/>
            <ac:spMk id="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47.042" v="354" actId="1076"/>
          <ac:spMkLst>
            <pc:docMk/>
            <pc:sldMk cId="0" sldId="281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47.042" v="354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2:32.898" v="359" actId="1076"/>
          <ac:spMkLst>
            <pc:docMk/>
            <pc:sldMk cId="0" sldId="281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9.074" v="353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57.299" v="355" actId="1076"/>
          <ac:spMkLst>
            <pc:docMk/>
            <pc:sldMk cId="0" sldId="281"/>
            <ac:spMk id="20" creationId="{00000000-0000-0000-0000-000000000000}"/>
          </ac:spMkLst>
        </pc:spChg>
      </pc:sldChg>
      <pc:sldChg chg="addSp modSp add mod setBg">
        <pc:chgData name="Dang Khoa Pham" userId="a0828928-506b-41e7-91fe-334565ca4eb5" providerId="ADAL" clId="{07F4103E-4D85-4DDD-92DF-5DC143FDFFF6}" dt="2026-07-27T02:47:11.688" v="380" actId="1076"/>
        <pc:sldMkLst>
          <pc:docMk/>
          <pc:sldMk cId="0" sldId="284"/>
        </pc:sldMkLst>
        <pc:spChg chg="mod">
          <ac:chgData name="Dang Khoa Pham" userId="a0828928-506b-41e7-91fe-334565ca4eb5" providerId="ADAL" clId="{07F4103E-4D85-4DDD-92DF-5DC143FDFFF6}" dt="2026-07-27T02:46:08.365" v="372" actId="1076"/>
          <ac:spMkLst>
            <pc:docMk/>
            <pc:sldMk cId="0" sldId="284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5:58.960" v="369" actId="14100"/>
          <ac:spMkLst>
            <pc:docMk/>
            <pc:sldMk cId="0" sldId="284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5:54.089" v="368" actId="1076"/>
          <ac:spMkLst>
            <pc:docMk/>
            <pc:sldMk cId="0" sldId="284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7T02:45:54.089" v="368" actId="1076"/>
          <ac:spMkLst>
            <pc:docMk/>
            <pc:sldMk cId="0" sldId="284"/>
            <ac:spMk id="10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7T02:46:24.040" v="376" actId="1076"/>
          <ac:spMkLst>
            <pc:docMk/>
            <pc:sldMk cId="0" sldId="284"/>
            <ac:spMk id="19" creationId="{48F72B34-7D5A-5DEF-7C1D-267016142B55}"/>
          </ac:spMkLst>
        </pc:spChg>
        <pc:spChg chg="add mod">
          <ac:chgData name="Dang Khoa Pham" userId="a0828928-506b-41e7-91fe-334565ca4eb5" providerId="ADAL" clId="{07F4103E-4D85-4DDD-92DF-5DC143FDFFF6}" dt="2026-07-27T02:47:02.923" v="378" actId="1076"/>
          <ac:spMkLst>
            <pc:docMk/>
            <pc:sldMk cId="0" sldId="284"/>
            <ac:spMk id="23" creationId="{569D4601-CDCF-78E1-188A-0F65268AB4F4}"/>
          </ac:spMkLst>
        </pc:spChg>
        <pc:spChg chg="add mod">
          <ac:chgData name="Dang Khoa Pham" userId="a0828928-506b-41e7-91fe-334565ca4eb5" providerId="ADAL" clId="{07F4103E-4D85-4DDD-92DF-5DC143FDFFF6}" dt="2026-07-27T02:47:11.688" v="380" actId="1076"/>
          <ac:spMkLst>
            <pc:docMk/>
            <pc:sldMk cId="0" sldId="284"/>
            <ac:spMk id="25" creationId="{0CE978D4-E192-AE30-D6C6-CAEC4AB10673}"/>
          </ac:spMkLst>
        </pc:spChg>
        <pc:spChg chg="add mod">
          <ac:chgData name="Dang Khoa Pham" userId="a0828928-506b-41e7-91fe-334565ca4eb5" providerId="ADAL" clId="{07F4103E-4D85-4DDD-92DF-5DC143FDFFF6}" dt="2026-07-27T02:47:08.141" v="379" actId="1076"/>
          <ac:spMkLst>
            <pc:docMk/>
            <pc:sldMk cId="0" sldId="284"/>
            <ac:spMk id="27" creationId="{69F8C5A1-6905-BD59-1B70-917A31D7AAF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44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5852160" cy="56692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4600" b="1">
                <a:solidFill>
                  <a:srgbClr val="111827"/>
                </a:solidFill>
                <a:latin typeface="Aptos Display"/>
              </a:rPr>
              <a:t>Python for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152144"/>
            <a:ext cx="58521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1D4ED8"/>
                </a:solidFill>
                <a:latin typeface="Aptos"/>
              </a:rPr>
              <a:t>Beginner Seminar for CDU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468859"/>
            <a:ext cx="5510784" cy="37241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lang="en-US" sz="2000" b="0" dirty="0">
                <a:solidFill>
                  <a:srgbClr val="4B5563"/>
                </a:solidFill>
                <a:latin typeface="Aptos"/>
              </a:rPr>
              <a:t>2</a:t>
            </a:r>
            <a:r>
              <a:rPr sz="2000" b="0" dirty="0">
                <a:solidFill>
                  <a:srgbClr val="4B5563"/>
                </a:solidFill>
                <a:latin typeface="Aptos"/>
              </a:rPr>
              <a:t>-hour practical 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993392"/>
            <a:ext cx="914400" cy="74980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⬇️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D4ED8"/>
                </a:solidFill>
                <a:latin typeface="Aptos"/>
              </a:rPr>
              <a:t>install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64207" y="1993392"/>
            <a:ext cx="914400" cy="74980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20239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66534"/>
                </a:solidFill>
                <a:latin typeface="Aptos"/>
              </a:rPr>
              <a:t>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93392"/>
            <a:ext cx="914400" cy="74980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99232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B45309"/>
                </a:solidFill>
                <a:latin typeface="Aptos"/>
              </a:rPr>
              <a:t>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1993392"/>
            <a:ext cx="914400" cy="74980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78224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6D28D9"/>
                </a:solidFill>
                <a:latin typeface="Aptos"/>
              </a:rPr>
              <a:t>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3" y="1993392"/>
            <a:ext cx="914400" cy="749808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57216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3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430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864608"/>
            <a:ext cx="91439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Idea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2834639" y="5148072"/>
            <a:ext cx="685801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862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64608"/>
            <a:ext cx="91439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577840" y="5148072"/>
            <a:ext cx="6858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379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864608"/>
            <a:ext cx="141732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321040" y="5148072"/>
            <a:ext cx="6858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2811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726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4864608"/>
            <a:ext cx="141732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Improve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29000" y="5745390"/>
            <a:ext cx="53035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 dirty="0">
                <a:solidFill>
                  <a:srgbClr val="4B5563"/>
                </a:solidFill>
                <a:latin typeface="Aptos"/>
              </a:rPr>
              <a:t>Slide ↔ Notebook ↔ Python script</a:t>
            </a:r>
          </a:p>
        </p:txBody>
      </p:sp>
      <p:pic>
        <p:nvPicPr>
          <p:cNvPr id="45" name="Picture 44" descr="18,276 Python Symbol Royalty-Free Images, Stock Photos &amp; Pictures | Shutterstock">
            <a:extLst>
              <a:ext uri="{FF2B5EF4-FFF2-40B4-BE49-F238E27FC236}">
                <a16:creationId xmlns:a16="http://schemas.microsoft.com/office/drawing/2014/main" id="{9FBBAC53-E0EE-AF99-B3FE-D013C7955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09" y="2919393"/>
            <a:ext cx="1475994" cy="15895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6" name="TextBox 18">
            <a:extLst>
              <a:ext uri="{FF2B5EF4-FFF2-40B4-BE49-F238E27FC236}">
                <a16:creationId xmlns:a16="http://schemas.microsoft.com/office/drawing/2014/main" id="{7C7CDE32-4439-98CD-C106-B05A724ECD83}"/>
              </a:ext>
            </a:extLst>
          </p:cNvPr>
          <p:cNvSpPr txBox="1"/>
          <p:nvPr/>
        </p:nvSpPr>
        <p:spPr>
          <a:xfrm>
            <a:off x="1689310" y="3238885"/>
            <a:ext cx="45743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dirty="0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Programming is huge</a:t>
            </a:r>
            <a:r>
              <a:rPr lang="en-US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, but we’ll </a:t>
            </a:r>
            <a:r>
              <a:rPr lang="en-US" dirty="0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keep it beginner-friendly and learn the useful basics first — enough to start self-learning and reading real code.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322294-D7B6-BFDC-5E53-6A3DFFD4E775}"/>
              </a:ext>
            </a:extLst>
          </p:cNvPr>
          <p:cNvSpPr txBox="1"/>
          <p:nvPr/>
        </p:nvSpPr>
        <p:spPr>
          <a:xfrm>
            <a:off x="3429000" y="6204333"/>
            <a:ext cx="5303520" cy="301493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lang="en-US" sz="1520" b="1" dirty="0">
                <a:solidFill>
                  <a:srgbClr val="4B5563"/>
                </a:solidFill>
                <a:latin typeface="Aptos"/>
              </a:rPr>
              <a:t>Kevin Pham - 390791</a:t>
            </a:r>
            <a:endParaRPr sz="1520" b="1" dirty="0">
              <a:solidFill>
                <a:srgbClr val="4B556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Big picture: what you will be able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The workshop moves from zero setup to a small practical report.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993392" cy="1874519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64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D4ED8"/>
                </a:solidFill>
                <a:latin typeface="Aptos"/>
              </a:rPr>
              <a:t>Run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Install, verify and run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39" y="1234440"/>
            <a:ext cx="1993392" cy="1874519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66534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Store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Variables, types and collections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46320" y="2167128"/>
            <a:ext cx="292607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59" y="1234440"/>
            <a:ext cx="1993392" cy="1874519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7608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B453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1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B45309"/>
                </a:solidFill>
                <a:latin typeface="Aptos"/>
              </a:rPr>
              <a:t>Make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1" y="2240280"/>
            <a:ext cx="1691640" cy="3840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86000"/>
              </a:lnSpc>
            </a:pPr>
            <a:r>
              <a:rPr sz="1580" b="0">
                <a:solidFill>
                  <a:srgbClr val="111827"/>
                </a:solidFill>
                <a:latin typeface="Aptos"/>
              </a:rPr>
              <a:t>Boolean logic and if statements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78040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79" y="1234440"/>
            <a:ext cx="1993392" cy="1874519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07807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6D28D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6D28D9"/>
                </a:solidFill>
                <a:latin typeface="Aptos"/>
              </a:rPr>
              <a:t>Repeat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Loops and functions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09759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829800" y="1234440"/>
            <a:ext cx="1993392" cy="1874519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3952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11827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Make a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pandas + chart + summary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3950208"/>
            <a:ext cx="48920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4097758"/>
            <a:ext cx="2801860" cy="37241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 dirty="0">
                <a:solidFill>
                  <a:srgbClr val="166534"/>
                </a:solidFill>
                <a:latin typeface="Aptos"/>
              </a:rPr>
              <a:t>Plain-English goal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6132" y="4710454"/>
            <a:ext cx="416052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0" dirty="0">
                <a:solidFill>
                  <a:srgbClr val="111827"/>
                </a:solidFill>
                <a:latin typeface="Aptos"/>
              </a:rPr>
              <a:t>Students can read, run, change and explain a simple Python program.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3950208"/>
            <a:ext cx="4892040" cy="1234440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20839" y="4097758"/>
            <a:ext cx="2788919" cy="37241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 dirty="0">
                <a:solidFill>
                  <a:srgbClr val="1D4ED8"/>
                </a:solidFill>
                <a:latin typeface="Aptos"/>
              </a:rPr>
              <a:t>Simple mental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1696" y="4663440"/>
            <a:ext cx="41605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 dirty="0">
                <a:solidFill>
                  <a:srgbClr val="111827"/>
                </a:solidFill>
                <a:latin typeface="Aptos"/>
              </a:rPr>
              <a:t>Input data → Python steps → useful output for a work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How the workshop will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Use the slide for the idea, then VS Code / Notebook for the hands-on demo.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5120640" cy="13716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98547"/>
            <a:ext cx="4297679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D4ED8"/>
                </a:solidFill>
                <a:latin typeface="Aptos"/>
              </a:rPr>
              <a:t>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73352"/>
            <a:ext cx="4297679" cy="8686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Big picture, simple rules, visual mental models and tiny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234440"/>
            <a:ext cx="5120640" cy="13716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1298547"/>
            <a:ext cx="4297679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66534"/>
                </a:solidFill>
                <a:latin typeface="Aptos"/>
              </a:rPr>
              <a:t>VS Code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73352"/>
            <a:ext cx="4297679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Run the same idea in Jupyter Notebook and a .py script.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See the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Slide concept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3580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65760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67328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Run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Notebook cell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2472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4652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56248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Reuse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0">
                <a:solidFill>
                  <a:srgbClr val="4B5563"/>
                </a:solidFill>
                <a:latin typeface="Aptos"/>
              </a:rPr>
              <a:t>.py script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1364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439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45167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59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Change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Student modifies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5102352"/>
            <a:ext cx="9875520" cy="67665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17320" y="5312664"/>
            <a:ext cx="932688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1">
                <a:solidFill>
                  <a:srgbClr val="B45309"/>
                </a:solidFill>
                <a:latin typeface="Aptos"/>
              </a:rPr>
              <a:t>One story context: Maya prepares a CDU class progress report. Every code example connects to that 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Workshop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The 80/20 Python path for complete beginners.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2487168" cy="1316736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⬇️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667486"/>
            <a:ext cx="1700784" cy="52604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Install Python, VS Code, packages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143000"/>
            <a:ext cx="2487168" cy="1316736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1188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Run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4" y="1667486"/>
            <a:ext cx="1700784" cy="7008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 dirty="0">
                <a:solidFill>
                  <a:srgbClr val="4B5563"/>
                </a:solidFill>
                <a:latin typeface="Aptos"/>
              </a:rPr>
              <a:t>.</a:t>
            </a:r>
            <a:r>
              <a:rPr sz="1580" b="0" dirty="0" err="1">
                <a:solidFill>
                  <a:srgbClr val="4B5563"/>
                </a:solidFill>
                <a:latin typeface="Aptos"/>
              </a:rPr>
              <a:t>py</a:t>
            </a:r>
            <a:r>
              <a:rPr sz="1580" b="0" dirty="0">
                <a:solidFill>
                  <a:srgbClr val="4B5563"/>
                </a:solidFill>
                <a:latin typeface="Aptos"/>
              </a:rPr>
              <a:t> script, Python shell, Jupyter Notebook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143000"/>
            <a:ext cx="2487168" cy="1316736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Core syntax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1667486"/>
            <a:ext cx="1700784" cy="7008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 dirty="0">
                <a:solidFill>
                  <a:srgbClr val="4B5563"/>
                </a:solidFill>
                <a:latin typeface="Aptos"/>
              </a:rPr>
              <a:t>print(), variables, type(), strings, numbers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143000"/>
            <a:ext cx="2487168" cy="1316736"/>
          </a:xfrm>
          <a:prstGeom prst="roundRect">
            <a:avLst/>
          </a:prstGeom>
          <a:solidFill>
            <a:srgbClr val="EDE9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6D28D9"/>
                </a:solidFill>
                <a:latin typeface="Aptos"/>
              </a:rPr>
              <a:t>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38944" y="1667486"/>
            <a:ext cx="1700784" cy="75059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comparisons, and/or/not, if/</a:t>
            </a:r>
            <a:r>
              <a:rPr sz="1520" b="0" dirty="0" err="1">
                <a:solidFill>
                  <a:srgbClr val="4B5563"/>
                </a:solidFill>
                <a:latin typeface="Aptos"/>
              </a:rPr>
              <a:t>elif</a:t>
            </a:r>
            <a:r>
              <a:rPr sz="1520" b="0" dirty="0">
                <a:solidFill>
                  <a:srgbClr val="4B5563"/>
                </a:solidFill>
                <a:latin typeface="Aptos"/>
              </a:rPr>
              <a:t>/else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80944"/>
            <a:ext cx="2487168" cy="1316736"/>
          </a:xfrm>
          <a:prstGeom prst="roundRect">
            <a:avLst/>
          </a:prstGeom>
          <a:solidFill>
            <a:srgbClr val="E2E8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045051"/>
            <a:ext cx="1801368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11827"/>
                </a:solidFill>
                <a:latin typeface="Aptos"/>
              </a:rPr>
              <a:t>Data structures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list, tuple, dictionary,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2980944"/>
            <a:ext cx="2487168" cy="1316736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1188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973943"/>
            <a:ext cx="1737360" cy="61760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D4ED8"/>
                </a:solidFill>
                <a:latin typeface="Aptos"/>
              </a:rPr>
              <a:t>Automation basics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21024"/>
            <a:ext cx="166420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for loops, while loops, functions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2980944"/>
            <a:ext cx="2487168" cy="1316736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090672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Libraries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pip install, import, pandas, matplotlib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980944"/>
            <a:ext cx="2487168" cy="1316736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8116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090672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Mini project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student score report + chart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40280" y="5623560"/>
            <a:ext cx="7680960" cy="872131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377440" y="5751576"/>
            <a:ext cx="7406640" cy="27432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 dirty="0">
                <a:solidFill>
                  <a:srgbClr val="F8FAFC"/>
                </a:solidFill>
                <a:latin typeface="Cascadia Mono"/>
              </a:rPr>
              <a:t>Workshop pattern: concept → tiny code → run → change →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What is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A readable language for giving clear instructions to a computer.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429000" cy="1115568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Plain-language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Python is like writing a clear recipe: step 1, step 2, step 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188720"/>
            <a:ext cx="3429000" cy="1115568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252827"/>
            <a:ext cx="2834640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66534"/>
                </a:solidFill>
                <a:latin typeface="Aptos"/>
              </a:rPr>
              <a:t>What the computer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It follows your instructions exactly and shows the result.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188720"/>
            <a:ext cx="3429000" cy="1115568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Why work uses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Automate repeated work, process data, build reports and test ideas quickly.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434340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054096"/>
            <a:ext cx="4069080" cy="1417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price = 120
discount = 0.20
final_price = price * (1 - discount)
print(final_price)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2926080"/>
            <a:ext cx="2103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154680"/>
            <a:ext cx="13716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456432"/>
            <a:ext cx="160020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price + discount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92440" y="3383280"/>
            <a:ext cx="64008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15400" y="2926080"/>
            <a:ext cx="2103120" cy="9144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17152" y="3154680"/>
            <a:ext cx="13716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456432"/>
            <a:ext cx="987552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0">
                <a:solidFill>
                  <a:srgbClr val="111827"/>
                </a:solidFill>
                <a:latin typeface="Aptos"/>
              </a:rPr>
              <a:t>96.0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5138928"/>
            <a:ext cx="9966960" cy="694944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17320" y="5376672"/>
            <a:ext cx="932688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1">
                <a:solidFill>
                  <a:srgbClr val="111827"/>
                </a:solidFill>
                <a:latin typeface="Aptos"/>
              </a:rPr>
              <a:t>Beginner rule: do not memorise everything. Learn how to run, read errors, change small parts and test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Python is clean compared with many languages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Less ceremony means beginners can focus on the idea, not punctuation.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70432"/>
            <a:ext cx="1828800" cy="23774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36192"/>
            <a:ext cx="4754880" cy="146304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64207"/>
            <a:ext cx="448056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if score &gt;= 50:
    print("Pass")
else:
    print("Review")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70432"/>
            <a:ext cx="2926080" cy="23774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B91C1C"/>
                </a:solidFill>
                <a:latin typeface="Aptos"/>
              </a:rPr>
              <a:t>Typical C-style syntax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36192"/>
            <a:ext cx="4754880" cy="16002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664207"/>
            <a:ext cx="448056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F8FAFC"/>
                </a:solidFill>
                <a:latin typeface="Cascadia Mono"/>
              </a:rPr>
              <a:t>if (score &gt;= 50) {
    print("Pass");
} else {
    print("Review");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49039"/>
            <a:ext cx="3395356" cy="9144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59" y="3813147"/>
            <a:ext cx="2709557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66534"/>
                </a:solidFill>
                <a:latin typeface="Aptos"/>
              </a:rPr>
              <a:t>Python uses indentation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187952"/>
            <a:ext cx="2286000" cy="41147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Spaces show which lines belong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749039"/>
            <a:ext cx="310896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No braces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187952"/>
            <a:ext cx="2286000" cy="41147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No { } for simple code blocks.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749039"/>
            <a:ext cx="31089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Less punctuation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187952"/>
            <a:ext cx="2286000" cy="41147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Semicolons are normally unnecessary.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349240"/>
            <a:ext cx="18288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88136" y="5413248"/>
            <a:ext cx="17556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111827"/>
                </a:solidFill>
                <a:latin typeface="Aptos"/>
              </a:rPr>
              <a:t>Data processing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5349240"/>
            <a:ext cx="11887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82696" y="5413248"/>
            <a:ext cx="111556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AI / ML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49240"/>
            <a:ext cx="13716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8" y="5413248"/>
            <a:ext cx="12984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Web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349240"/>
            <a:ext cx="21031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5976" y="5413248"/>
            <a:ext cx="2029967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111827"/>
                </a:solidFill>
                <a:latin typeface="Aptos"/>
              </a:rPr>
              <a:t>Automation scripts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5349240"/>
            <a:ext cx="11430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34855" y="5413248"/>
            <a:ext cx="10698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Reports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Install Python + VS Code quickly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4B5563"/>
                </a:solidFill>
              </a:rPr>
              <a:t>Beginner setup for Windows laptops.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6930" y="1276364"/>
            <a:ext cx="5643401" cy="1488058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01523" y="142266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563EB"/>
                </a:solidFill>
              </a:rPr>
              <a:t>1. Install Python 3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01522" y="1825003"/>
            <a:ext cx="5875625" cy="10060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11827"/>
                </a:solidFill>
              </a:rPr>
              <a:t>Download Python 3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11827"/>
                </a:solidFill>
              </a:rPr>
              <a:t>Add Python to PATH for window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111827"/>
                </a:solidFill>
              </a:rPr>
              <a:t>WINDOW_KEY + R : </a:t>
            </a:r>
            <a:r>
              <a:rPr lang="en-US" sz="1400"/>
              <a:t>%localappdata%\Programs\Python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solidFill>
                  <a:srgbClr val="111827"/>
                </a:solidFill>
              </a:rPr>
              <a:t>WINDOW_KEY + S: env</a:t>
            </a:r>
          </a:p>
          <a:p>
            <a:pPr marL="0" indent="0">
              <a:buNone/>
            </a:pPr>
            <a:endParaRPr lang="en-US" sz="1600" dirty="0">
              <a:solidFill>
                <a:srgbClr val="111827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3580" y="807194"/>
            <a:ext cx="3264408" cy="1957227"/>
          </a:xfrm>
          <a:prstGeom prst="roundRect">
            <a:avLst>
              <a:gd name="adj" fmla="val 7742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68172" y="953499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59669"/>
                </a:solidFill>
              </a:rPr>
              <a:t>2. Install VS Code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8172" y="1311496"/>
            <a:ext cx="30998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Install Visual Studio Code. Open Extensions and install the Python extension.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45552" y="3154939"/>
            <a:ext cx="3429000" cy="1307592"/>
          </a:xfrm>
          <a:prstGeom prst="roundRect">
            <a:avLst>
              <a:gd name="adj" fmla="val 7742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10144" y="3301243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C3AED"/>
                </a:solidFill>
              </a:rPr>
              <a:t>3. Verify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010144" y="3625855"/>
            <a:ext cx="30998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111827"/>
                </a:solidFill>
              </a:rPr>
              <a:t>Open Terminal in VS Code. Check Python version and install learning packages.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845553" y="4554381"/>
            <a:ext cx="3765890" cy="785090"/>
          </a:xfrm>
          <a:prstGeom prst="roundRect">
            <a:avLst>
              <a:gd name="adj" fmla="val 8276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0143" y="4473853"/>
            <a:ext cx="3691299" cy="97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 --version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 --version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 -m pip install notebook pandas matplotlib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45553" y="5335244"/>
            <a:ext cx="51833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563"/>
                </a:solidFill>
              </a:rPr>
              <a:t>use py on Windows; python3 is common on Mac/Linux.</a:t>
            </a:r>
            <a:endParaRPr lang="en-US" sz="14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CB11237-1398-5358-44FB-865A0B129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30" y="3246378"/>
            <a:ext cx="5939915" cy="35490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80A16CA-5D32-08A6-BC05-310E3B7BB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615" y="5916889"/>
            <a:ext cx="4615455" cy="87856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CA635B6-5879-6D6D-F3B6-7CBC719AD2E6}"/>
              </a:ext>
            </a:extLst>
          </p:cNvPr>
          <p:cNvSpPr txBox="1"/>
          <p:nvPr/>
        </p:nvSpPr>
        <p:spPr>
          <a:xfrm>
            <a:off x="736930" y="2783589"/>
            <a:ext cx="651294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050" dirty="0">
                <a:latin typeface="Courier New" panose="02070309020205020404" pitchFamily="49" charset="0"/>
              </a:rPr>
              <a:t>C:\Users\&lt;YourName&gt;\AppData\Local\Programs\Python\Python311</a:t>
            </a:r>
            <a:endParaRPr lang="en-US" sz="1050" dirty="0"/>
          </a:p>
          <a:p>
            <a:pPr>
              <a:buNone/>
            </a:pPr>
            <a:r>
              <a:rPr lang="en-US" sz="1050" dirty="0">
                <a:latin typeface="Courier New" panose="02070309020205020404" pitchFamily="49" charset="0"/>
              </a:rPr>
              <a:t>C:\Users\&lt;YourName&gt;\AppData\Local\Programs\Python\Python311\Scripts</a:t>
            </a:r>
            <a:endParaRPr lang="en-US" sz="10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72B34-7D5A-5DEF-7C1D-267016142B55}"/>
              </a:ext>
            </a:extLst>
          </p:cNvPr>
          <p:cNvSpPr txBox="1"/>
          <p:nvPr/>
        </p:nvSpPr>
        <p:spPr>
          <a:xfrm>
            <a:off x="8010144" y="2070250"/>
            <a:ext cx="3213339" cy="712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VS code first:</a:t>
            </a:r>
          </a:p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Op</a:t>
            </a:r>
            <a:r>
              <a:rPr lang="en-US" sz="1400" dirty="0">
                <a:solidFill>
                  <a:srgbClr val="111827"/>
                </a:solidFill>
                <a:latin typeface="Abadi ExtraLight" panose="020F0502020204030204" pitchFamily="34" charset="0"/>
              </a:rPr>
              <a:t>en terminal: Ctrl + ~</a:t>
            </a:r>
          </a:p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Comment: Ctrl + /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9D4601-CDCF-78E1-188A-0F65268AB4F4}"/>
              </a:ext>
            </a:extLst>
          </p:cNvPr>
          <p:cNvSpPr txBox="1"/>
          <p:nvPr/>
        </p:nvSpPr>
        <p:spPr>
          <a:xfrm>
            <a:off x="5890260" y="1409383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 dirty="0">
                <a:solidFill>
                  <a:srgbClr val="111827"/>
                </a:solidFill>
                <a:latin typeface="Aptos"/>
              </a:rPr>
              <a:t>🐍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E978D4-E192-AE30-D6C6-CAEC4AB10673}"/>
              </a:ext>
            </a:extLst>
          </p:cNvPr>
          <p:cNvSpPr txBox="1"/>
          <p:nvPr/>
        </p:nvSpPr>
        <p:spPr>
          <a:xfrm>
            <a:off x="10698480" y="874722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 dirty="0">
                <a:solidFill>
                  <a:srgbClr val="111827"/>
                </a:solidFill>
                <a:latin typeface="Aptos"/>
              </a:rPr>
              <a:t>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F8C5A1-6905-BD59-1B70-917A31D7AAFE}"/>
              </a:ext>
            </a:extLst>
          </p:cNvPr>
          <p:cNvSpPr txBox="1"/>
          <p:nvPr/>
        </p:nvSpPr>
        <p:spPr>
          <a:xfrm>
            <a:off x="10863072" y="3237406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 dirty="0">
                <a:solidFill>
                  <a:srgbClr val="111827"/>
                </a:solidFill>
                <a:latin typeface="Aptos"/>
              </a:rPr>
              <a:t>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Optional: project environment + Jupyter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Keep this brief. Use it when students are ready.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3429000" cy="13258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Global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73352"/>
            <a:ext cx="2606040" cy="8229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Packages are installed for the general Python installation. Simple for a first workshop.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234440"/>
            <a:ext cx="3429000" cy="13258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Virtual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73352"/>
            <a:ext cx="2606040" cy="8229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A project-specific space for packages. Useful when projects need different versions.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429000" cy="132588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79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Jupyter Notebook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673352"/>
            <a:ext cx="2606040" cy="82295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Interactive document: explanation + code + output + charts in one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246120"/>
            <a:ext cx="5257800" cy="17830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39" y="3374136"/>
            <a:ext cx="498348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 dirty="0">
                <a:solidFill>
                  <a:srgbClr val="F8FAFC"/>
                </a:solidFill>
                <a:latin typeface="Cascadia Mono"/>
              </a:rPr>
              <a:t>python -m 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venv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.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venv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
.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venv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\Scripts\activate
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py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-m pip install notebook
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jupyter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notebook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383280"/>
            <a:ext cx="4206240" cy="150876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03720" y="3621024"/>
            <a:ext cx="18288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80/20 advice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995928"/>
            <a:ext cx="3566160" cy="53035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11827"/>
                </a:solidFill>
                <a:latin typeface="Aptos"/>
              </a:rPr>
              <a:t>Start simple. Use global Python for the first workshop, then learn virtual environments as projects grow.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How to run Python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Three beginner-friendly ways.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3246120" cy="105156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.py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reusable programs and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29718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F8FAFC"/>
                </a:solidFill>
                <a:latin typeface="Cascadia Mono"/>
              </a:rPr>
              <a:t>py hello.py
python hello.py
python3 hello.py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143000"/>
            <a:ext cx="3246120" cy="105156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1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Python 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very quick experiments.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2551176"/>
            <a:ext cx="2971800" cy="12801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F8FAFC"/>
                </a:solidFill>
                <a:latin typeface="Cascadia Mono"/>
              </a:rPr>
              <a:t>py
&gt;&gt;&gt; 2 + 3
5
&gt;&gt;&gt; exit()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0183" y="1143000"/>
            <a:ext cx="3246120" cy="105156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21624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Jupyter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learning, explaining and prototyping.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67344" y="2551176"/>
            <a:ext cx="29718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F8FAFC"/>
                </a:solidFill>
                <a:latin typeface="Cascadia Mono"/>
              </a:rPr>
              <a:t>jupyter notebook
# run code cell by cell
# output appears below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736592"/>
            <a:ext cx="9784080" cy="74980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81328" y="5010912"/>
            <a:ext cx="9189720" cy="2011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86000"/>
              </a:lnSpc>
            </a:pPr>
            <a:r>
              <a:rPr sz="1700" b="1">
                <a:solidFill>
                  <a:srgbClr val="6D28D9"/>
                </a:solidFill>
                <a:latin typeface="Aptos"/>
              </a:rPr>
              <a:t>Today: slides explain the idea → Notebook shows it live → .py script shows reusable workflow.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Script or Notebook?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Choose the right tool for the task.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4846320" cy="118872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52728"/>
            <a:ext cx="402335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Use .py file when…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81912"/>
            <a:ext cx="4023359" cy="6858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You want a reusable program, an automation script, or a file that runs from top to bottom.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143000"/>
            <a:ext cx="4846320" cy="118872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252728"/>
            <a:ext cx="402335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Use Jupyter Notebook when…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81912"/>
            <a:ext cx="4023359" cy="6858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You are learning, exploring, documenting steps, showing output and creating charts.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43200"/>
            <a:ext cx="4617720" cy="11430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871216"/>
            <a:ext cx="43434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# hello.py
student_name = "Maya"
print("Hello", student_name)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743200"/>
            <a:ext cx="461772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871216"/>
            <a:ext cx="43434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F8FAFC"/>
                </a:solidFill>
                <a:latin typeface="Cascadia Mono"/>
              </a:rPr>
              <a:t># Notebook cell
student_name = "Maya"
print("Hello", student_name)
# output appears below the cell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4892040"/>
            <a:ext cx="9784080" cy="8046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63040" y="5166360"/>
            <a:ext cx="9235440" cy="2011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86000"/>
              </a:lnSpc>
            </a:pPr>
            <a:r>
              <a:rPr sz="1580" b="1">
                <a:solidFill>
                  <a:srgbClr val="111827"/>
                </a:solidFill>
                <a:latin typeface="Aptos"/>
              </a:rPr>
              <a:t>Beginner decision: learning/explaining/charting → Notebook     repeating/automation/sharing code → .py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 Python program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Make the computer display a result.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600200"/>
            <a:ext cx="5577840" cy="1234440"/>
          </a:xfrm>
          <a:prstGeom prst="roundRect">
            <a:avLst>
              <a:gd name="adj" fmla="val 888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8992" y="1764792"/>
            <a:ext cx="5248656" cy="905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print("Hello, CDU!")</a:t>
            </a:r>
            <a:endParaRPr lang="en-US" sz="22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</a:t>
            </a:r>
            <a:endParaRPr lang="en-US" sz="22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print("Welcome", studentName)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4650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What print() does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59752" y="214884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Displays information so you can see the result of your code.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995160" y="283464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98094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Beginner habit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38328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Run code often. If something breaks, read the last error line first.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06908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21538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59752" y="461772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70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Change the name and message, then run the cell again.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&amp; data types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Variables store information. type() tells you what kind.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00" cy="36576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0392" y="1673352"/>
            <a:ext cx="6071616" cy="3328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      # str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studentAge = 22                # int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hoursStudied = 6.5             # float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isCduStudent = True           # bool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weeklyScores = [80, 90, 75]    # list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campus = ("Darwin", "NT")      # tuple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profile = {"name": studentName, "score": 90}  # dict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tags = {"Python", "Data", "AI"}  # set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print(type(studentName))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452360" y="1572768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43800" y="1673352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str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183880" y="1673352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text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281160" y="1572768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72600" y="1673352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int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012680" y="1673352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whole number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2414016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43800" y="2514600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float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183880" y="2514600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decimal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281160" y="2414016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372600" y="2514600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bool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0012680" y="2514600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True/False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452360" y="3255264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54380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list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83880" y="3355848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many values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281160" y="3255264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7260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tuple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0012680" y="3355848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fixed group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452360" y="409651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43800" y="4197096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dict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183880" y="4197096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key-value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281160" y="409651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372600" y="4197096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set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0012680" y="4197096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520" dirty="0">
                <a:solidFill>
                  <a:srgbClr val="111827"/>
                </a:solidFill>
              </a:rPr>
              <a:t>unique values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with strings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Strings are text values: names, labels, messages and categories.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5806440" cy="2834640"/>
          </a:xfrm>
          <a:prstGeom prst="roundRect">
            <a:avLst>
              <a:gd name="adj" fmla="val 3871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673352"/>
            <a:ext cx="5477256" cy="2505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courseName = "Python for Work"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print(studentName.upper())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print(studentName.title())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print(len(studentName))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message = f"Welcome {studentName.title()} to {courseName}"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print(message)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995160" y="1691640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8562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Common actions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62872" y="1837944"/>
            <a:ext cx="178308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.upper() · .lower() · .title() · len() · f"...{value}..."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926080"/>
            <a:ext cx="425196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3072384"/>
            <a:ext cx="392277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Practical use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74720"/>
            <a:ext cx="392277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4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Clean names, prepare labels, build report messages and format outputs.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87952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35254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31352" y="4334256"/>
            <a:ext cx="251460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Change the student name. Add campus or degree.</a:t>
            </a:r>
            <a:endParaRPr lang="en-US" sz="14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with numbers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Numbers are used for calculations, totals, rates and measurements.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5852160" cy="338328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581912"/>
            <a:ext cx="5522976" cy="3054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labHours = 6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assistantRate = 32.5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pay = labHours * assistantRate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print(pay)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print(round(pay, 2))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/ 3)   # division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// 3)  # whole-number division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print(10 % 3)   # remainder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print(2 ** 3)   # power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0" y="1554480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+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726680" y="1609344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add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0" y="1554480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-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55480" y="1609344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subtract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0" y="2267712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*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726680" y="2322576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multiply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0" y="2267712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/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55480" y="2322576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divide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0" y="2980944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//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72668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whole divide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0" y="2980944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5548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remainder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32320" y="3694176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**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726680" y="3749040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power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 logic &amp; comparisons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Conditions produce True or False, then code can decide what to do.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6309360" cy="3520440"/>
          </a:xfrm>
          <a:prstGeom prst="roundRect">
            <a:avLst>
              <a:gd name="adj" fmla="val 3117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581912"/>
            <a:ext cx="5980176" cy="3191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= 72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attendance = 0.85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&gt; 50)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== 72)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!= 100)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canPass = score &gt;= 50 and attendance &gt;= 0.8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needsSupport = score &lt; 50 or attendance &lt; 0.8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print("Can pass:", canPass)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315200" y="1600200"/>
            <a:ext cx="3840480" cy="749808"/>
          </a:xfrm>
          <a:prstGeom prst="roundRect">
            <a:avLst>
              <a:gd name="adj" fmla="val 14634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79792" y="17647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0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Comparison operators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82912" y="1746504"/>
            <a:ext cx="1371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&gt;  &lt;  &gt;=  &lt;=  ==  !=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315200" y="2697480"/>
            <a:ext cx="3840480" cy="749808"/>
          </a:xfrm>
          <a:prstGeom prst="roundRect">
            <a:avLst>
              <a:gd name="adj" fmla="val 14634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79792" y="286207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Logic words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82912" y="2843784"/>
            <a:ext cx="1371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and · or · not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315200" y="3794760"/>
            <a:ext cx="3840480" cy="841248"/>
          </a:xfrm>
          <a:prstGeom prst="roundRect">
            <a:avLst>
              <a:gd name="adj" fmla="val 1304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79792" y="395935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Mental model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82912" y="3941064"/>
            <a:ext cx="137160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Condition → True/False → Action</a:t>
            </a:r>
            <a:endParaRPr lang="en-US" sz="14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statements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if / elif / else when Python needs to make a decision.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46304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627632"/>
            <a:ext cx="5431536" cy="2231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= 72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 score &gt;= 85: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print("Excellent progress")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elif score &gt;= 50: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print("Pass — keep practising")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else: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print("Review needed")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86600" y="157276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73736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91272" y="171907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: after condition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086600" y="262432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51192" y="278892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91272" y="277063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Indent action lines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086600" y="367588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51192" y="384048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272" y="382219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First True branch runs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1051560" y="4983480"/>
            <a:ext cx="9875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111827"/>
                </a:solidFill>
              </a:rPr>
              <a:t>Try this: change score to 95, 72 and 40. What changes?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Collections: list, tuple, dictionary, 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Most practical Python work means storing many values.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Collection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5468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Example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922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Use it for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224942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List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154680" y="224942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[80, 90, 75]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24942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Ordered, changeable data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288036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302666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Tuple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154680" y="302666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("Darwin", "NT")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302666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Small fixed groups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22960" y="365760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380390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Dictionary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154680" y="3803904"/>
            <a:ext cx="30632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{"name": "Maya", "score": 90}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380390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Labelled records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22960" y="443484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458114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Set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154680" y="458114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{"AI", "Data"}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92240" y="458114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Unique values / remove duplicates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280160" y="5349240"/>
            <a:ext cx="9601200" cy="658368"/>
          </a:xfrm>
          <a:prstGeom prst="roundRect">
            <a:avLst>
              <a:gd name="adj" fmla="val 16667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44752" y="55138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80/20 priority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547872" y="5495544"/>
            <a:ext cx="713232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Practise lists and dictionaries the most. Learn tuples and sets enough to recognise them.</a:t>
            </a:r>
            <a:endParaRPr lang="en-US" sz="14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Lists &amp; tuples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lists for data that can change. Use tuples for simple fixed groups.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669280" cy="288036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673352"/>
            <a:ext cx="5340096" cy="25511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 = [80, 90, 75]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print(scores[0])      # first item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scores.append(88)    # add item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print(scores)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location = ("Darwin", "NT")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city, state = location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print(city, state)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46504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List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59752" y="2148840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Ordered + changeable. Good for scores, readings, tasks and rows of data.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995160" y="2852928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999232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Tuple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01568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Ordered + usually fixed. Good for locations, coordinates or simple pairs.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14800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261104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Beginner tip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59752" y="4663440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Python indexes start at 0, so the first item is scores[0].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Dictionaries &amp; sets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dictionaries for labelled records. Use sets for unique values.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89888"/>
            <a:ext cx="5989320" cy="3611880"/>
          </a:xfrm>
          <a:prstGeom prst="roundRect">
            <a:avLst>
              <a:gd name="adj" fmla="val 3038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554480"/>
            <a:ext cx="5660136" cy="32826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 = {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"name": "Maya",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"degree": "Engineering",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"score": 90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}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print(student["name"])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student["score"] = 95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interests = ["AI", "Data", "AI", "Business"]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uniqueInterests = set(interests)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print(uniqueInterests)</a:t>
            </a:r>
            <a:endParaRPr lang="en-US" sz="1580" dirty="0"/>
          </a:p>
        </p:txBody>
      </p:sp>
      <p:sp>
        <p:nvSpPr>
          <p:cNvPr id="7" name="Shape 5"/>
          <p:cNvSpPr/>
          <p:nvPr/>
        </p:nvSpPr>
        <p:spPr>
          <a:xfrm>
            <a:off x="7223760" y="169164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88352" y="1837944"/>
            <a:ext cx="35570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Dictionary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388352" y="2240280"/>
            <a:ext cx="355701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Key → value. This is the most useful beginner structure for real-world records.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223760" y="2999232"/>
            <a:ext cx="38862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88352" y="3163824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Set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28432" y="3145536"/>
            <a:ext cx="288036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Keeps only unique values. Great for duplicate removal.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223760" y="4233672"/>
            <a:ext cx="3886200" cy="896112"/>
          </a:xfrm>
          <a:prstGeom prst="roundRect">
            <a:avLst>
              <a:gd name="adj" fmla="val 1224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88352" y="439826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59952" y="4379976"/>
            <a:ext cx="21488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Add campus, email or pass_status to the dictionary.</a:t>
            </a:r>
            <a:endParaRPr lang="en-US" sz="14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loops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Repeat the same action for each item in a collection.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89888"/>
            <a:ext cx="5715000" cy="329184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554480"/>
            <a:ext cx="5385816" cy="2962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 = [80, 90, 75]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score in scores: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print("Score:", score)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score in scores: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if score &gt;= 50: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print(score, "Pass")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else: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print(score, "Review")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086600" y="166420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82880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91272" y="181051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Take first item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086600" y="271576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51192" y="288036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91272" y="286207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Run indented code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086600" y="376732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51192" y="393192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272" y="391363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Move to next item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086600" y="4828032"/>
            <a:ext cx="3977640" cy="777240"/>
          </a:xfrm>
          <a:prstGeom prst="roundRect">
            <a:avLst>
              <a:gd name="adj" fmla="val 14118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251192" y="499262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80/20 rule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22792" y="4974336"/>
            <a:ext cx="2240280" cy="539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77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Practise for loops first. They are more common for beginner data work than while loops.</a:t>
            </a:r>
            <a:endParaRPr lang="en-US" sz="14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Loop iterable with list and dictionary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This is one of the most useful beginner patterns.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554480"/>
            <a:ext cx="2286000" cy="2377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250" b="1" dirty="0">
                <a:solidFill>
                  <a:srgbClr val="2563EB"/>
                </a:solidFill>
              </a:rPr>
              <a:t>List loop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993392"/>
            <a:ext cx="4974336" cy="122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tasks = ["install Python", "run notebook", "write first loop"]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task in tasks: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print("Next task:", task)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44652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520" b="1" dirty="0">
                <a:solidFill>
                  <a:srgbClr val="059669"/>
                </a:solidFill>
              </a:rPr>
              <a:t>Dictionary loop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507492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19672" y="1993392"/>
            <a:ext cx="4745736" cy="122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 = {"name": "Maya", "score": 90, "degree": "Engineering"}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key, value in student.items():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print(key, "=", value)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34440" y="43434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99032" y="45079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List loop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70632" y="4489704"/>
            <a:ext cx="228600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when you need to do the same thing to every item.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6903720" y="43434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68312" y="45079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Dictionary loop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71432" y="4489704"/>
            <a:ext cx="155448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.items() when you want both label and value.</a:t>
            </a:r>
            <a:endParaRPr lang="en-US" sz="14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While loop — brief introduction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Repeat while a condition stays True. Use carefully.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08760"/>
            <a:ext cx="5577840" cy="2423160"/>
          </a:xfrm>
          <a:prstGeom prst="roundRect">
            <a:avLst>
              <a:gd name="adj" fmla="val 4528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673352"/>
            <a:ext cx="5248656" cy="2093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practiceDay = 1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while practiceDay &lt;= 5: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print("Practice day", practiceDay)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practiceDay = practiceDay + 1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print("Practice streak complete")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95160" y="1691640"/>
            <a:ext cx="416052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8562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When to use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262872" y="1837944"/>
            <a:ext cx="169164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When you do not know exactly how many repeats are needed.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907792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FEF2F2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3054096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DC2626"/>
                </a:solidFill>
              </a:rPr>
              <a:t>Beginner risk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56432"/>
            <a:ext cx="383133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5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If the condition never becomes False, the loop may run forever.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87952"/>
            <a:ext cx="416052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352544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b="1" dirty="0">
                <a:solidFill>
                  <a:srgbClr val="059669"/>
                </a:solidFill>
              </a:rPr>
              <a:t>Workshop priority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62872" y="4334256"/>
            <a:ext cx="169164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Teach while briefly. Spend most loop practice on for loops.</a:t>
            </a:r>
            <a:endParaRPr lang="en-US" sz="14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Package steps into reusable code.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6126480" cy="3749040"/>
          </a:xfrm>
          <a:prstGeom prst="roundRect">
            <a:avLst>
              <a:gd name="adj" fmla="val 2927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536192"/>
            <a:ext cx="5797296" cy="3419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calculatePay(hours, rate):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pay = hours * rate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return pay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labelScore(score):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if score &gt;= 85: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"Excellent"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elif score &gt;= 50: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"Pass"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else: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"Review"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print(labelScore(72))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7178040" y="1600200"/>
            <a:ext cx="3977640" cy="868680"/>
          </a:xfrm>
          <a:prstGeom prst="roundRect">
            <a:avLst>
              <a:gd name="adj" fmla="val 1263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42632" y="17647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b="1" dirty="0">
                <a:solidFill>
                  <a:srgbClr val="2563EB"/>
                </a:solidFill>
              </a:rPr>
              <a:t>Input → Function → Output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45752" y="1746504"/>
            <a:ext cx="1508760" cy="630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Example: score goes in, label comes out.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178040" y="27432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42632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def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82712" y="2889504"/>
            <a:ext cx="297180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Starts a function definition.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178040" y="36576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42632" y="38221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parameters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14232" y="3803904"/>
            <a:ext cx="2240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Values the function receives.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178040" y="45720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42632" y="47365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return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714232" y="4718304"/>
            <a:ext cx="2240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Sends the answer back.</a:t>
            </a:r>
            <a:endParaRPr lang="en-US" sz="14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Libraries: pip install → import → use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Libraries give Python extra powers.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5669280" cy="192024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719072"/>
            <a:ext cx="5340096" cy="1591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 -m pip install pandas matplotlib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pandas as pd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matplotlib.pyplot as plt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install once, import in each project/notebook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647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pandas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531352" y="174650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Tables, CSV files, data cleaning and simple analysis.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65176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81635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matplotlib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31352" y="279806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Charts, trends and visualisation.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6995160" y="370332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386791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NumPy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31352" y="384962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Arrays and numerical computing. Learn more after basics.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1920240" y="5074920"/>
            <a:ext cx="8321040" cy="685800"/>
          </a:xfrm>
          <a:prstGeom prst="roundRect">
            <a:avLst>
              <a:gd name="adj" fmla="val 16000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084832" y="523951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80/20 library habit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87952" y="5221224"/>
            <a:ext cx="585216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Install package → import package → use package.</a:t>
            </a:r>
            <a:endParaRPr lang="en-US" sz="14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Small data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A practical pattern students can reuse at work.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353312"/>
            <a:ext cx="5989320" cy="3429000"/>
          </a:xfrm>
          <a:prstGeom prst="roundRect">
            <a:avLst>
              <a:gd name="adj" fmla="val 320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0392" y="1517904"/>
            <a:ext cx="5660136" cy="3099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pandas as pd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records = [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"Maya", "score": 90},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"Leo", "score": 72},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"Ava", "score": 48}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]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df = pd.DataFrame(records)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print(df)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print(df["score"].mean())</a:t>
            </a:r>
            <a:endParaRPr lang="en-US" sz="1630" dirty="0"/>
          </a:p>
        </p:txBody>
      </p:sp>
      <p:sp>
        <p:nvSpPr>
          <p:cNvPr id="7" name="Shape 5"/>
          <p:cNvSpPr/>
          <p:nvPr/>
        </p:nvSpPr>
        <p:spPr>
          <a:xfrm>
            <a:off x="7086600" y="148132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64592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22792" y="162763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list / dict / CSV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915400" y="211226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86600" y="235000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51192" y="251460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pandas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22792" y="249631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table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915400" y="298094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086600" y="321868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51192" y="338328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Analyse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22792" y="336499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mean / max / filter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8915400" y="384962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086600" y="408736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51192" y="425196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Chart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22792" y="423367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matplotlib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7086600" y="5074920"/>
            <a:ext cx="3703320" cy="73152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51192" y="523951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Mini project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54312" y="5221224"/>
            <a:ext cx="1234440" cy="493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4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Student score report: store records, label status, calculate average, show a chart.</a:t>
            </a:r>
            <a:endParaRPr lang="en-US" sz="14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Final mini-project 1: create a CSV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Use everything from the workshop: variables, if/else, loop, function, pandas, matplotlib and CSV output.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7970" y="960810"/>
            <a:ext cx="1051560" cy="347472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3690" y="1015674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987552"/>
            <a:ext cx="105156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79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987552"/>
            <a:ext cx="1051560" cy="347472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4151" y="987552"/>
            <a:ext cx="1417320" cy="347472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99871" y="1042416"/>
            <a:ext cx="132588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DataFrame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91511" y="987552"/>
            <a:ext cx="1051560" cy="347472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37231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CSV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7411" y="987552"/>
            <a:ext cx="105156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3131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328" y="996869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 dirty="0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7480" y="1042416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 dirty="0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7191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5135" y="1015674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 dirty="0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508760"/>
            <a:ext cx="352044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1636776"/>
            <a:ext cx="311810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import pandas as pd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import matplotlib.pyplot as plt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students = [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{"name":"Maya", "score":85},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{"name":"Leo",  "score":62},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{"name":"Ava",  "score":45},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1508760"/>
            <a:ext cx="370332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61688" y="1636776"/>
            <a:ext cx="330098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def get_status(score):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if score &gt;= 50: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    return "Pass"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else: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    return "Review"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for student in students: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student["status"] = get_status(student["score"])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1508760"/>
            <a:ext cx="370332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93608" y="1636776"/>
            <a:ext cx="330098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 = 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pd.DataFrame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(students)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df.to_csv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("student_scores.csv", index=False)</a:t>
            </a:r>
            <a:br>
              <a:rPr dirty="0"/>
            </a:br>
            <a:br>
              <a:rPr dirty="0"/>
            </a:br>
            <a:r>
              <a:rPr sz="1270" dirty="0">
                <a:solidFill>
                  <a:srgbClr val="F0F7FF"/>
                </a:solidFill>
                <a:latin typeface="Consolas"/>
              </a:rPr>
              <a:t>print(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)</a:t>
            </a:r>
            <a:br>
              <a:rPr dirty="0"/>
            </a:br>
            <a:r>
              <a:rPr sz="1270" dirty="0">
                <a:solidFill>
                  <a:srgbClr val="F0F7FF"/>
                </a:solidFill>
                <a:latin typeface="Consolas"/>
              </a:rPr>
              <a:t>print("Average:", 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["score"].mean())</a:t>
            </a:r>
            <a:br>
              <a:rPr dirty="0"/>
            </a:b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df.plot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(x="name", y="score", kind="bar")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plt.title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("Student Score Report")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plt.show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645152"/>
            <a:ext cx="3657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718304"/>
            <a:ext cx="31089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What students see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029200"/>
            <a:ext cx="310896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 dirty="0">
                <a:solidFill>
                  <a:srgbClr val="525F73"/>
                </a:solidFill>
                <a:latin typeface="Aptos"/>
              </a:rPr>
              <a:t>The program creates student data, labels each result, saves a CSV file, prints a summary and shows a simple bar chart.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5152"/>
            <a:ext cx="3657600" cy="9601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718304"/>
            <a:ext cx="31089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What students practise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029200"/>
            <a:ext cx="310896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 dirty="0">
                <a:solidFill>
                  <a:srgbClr val="525F73"/>
                </a:solidFill>
                <a:latin typeface="Aptos"/>
              </a:rPr>
              <a:t>Reading code from top to bottom and explaining what each step does in plain English.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4645152"/>
            <a:ext cx="3611880" cy="960120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75319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4718304"/>
            <a:ext cx="306324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Small change 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029200"/>
            <a:ext cx="306324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>
                <a:solidFill>
                  <a:srgbClr val="525F73"/>
                </a:solidFill>
                <a:latin typeface="Aptos"/>
              </a:rPr>
              <a:t>Add one more student, change a score and run the program again.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Final mini-project 2: read, process and visualise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Read the CSV created by project 1, then use pandas and matplotlib to answer simple questions.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2377440" cy="685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033272"/>
            <a:ext cx="182880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44168"/>
            <a:ext cx="182880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What does the file contain?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960120"/>
            <a:ext cx="2743200" cy="68580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4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033272"/>
            <a:ext cx="21945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344168"/>
            <a:ext cx="219456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How many passed or need review?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960120"/>
            <a:ext cx="2743200" cy="685800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033272"/>
            <a:ext cx="21945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344168"/>
            <a:ext cx="219456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What is the average and highest score?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960120"/>
            <a:ext cx="2606040" cy="68580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033272"/>
            <a:ext cx="205740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344168"/>
            <a:ext cx="205740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Can we show it visually?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74519"/>
            <a:ext cx="5486400" cy="352044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2002536"/>
            <a:ext cx="5084064" cy="32644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import pandas as pd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import matplotlib.pyplot as plt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df = pd.read_csv("student_scores.csv")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print(df.head())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print(df["status"].value_counts())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average_score = df["score"].mean()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highest_score = df["score"].max()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print("Average:", average_score)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print("Highest:", highest_score)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874519"/>
            <a:ext cx="5486400" cy="352044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2002536"/>
            <a:ext cx="5084064" cy="32644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passed_students = df[df["status"] == "Pass"]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print(passed_students)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df.plot(x="name", y="score", kind="bar")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plt.axhline(y=50, linestyle="--")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plt.title("Pass Line and Student Scores")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plt.xlabel("Student")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plt.ylabel("Score")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plt.show()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504688"/>
            <a:ext cx="11384280" cy="566928"/>
          </a:xfrm>
          <a:prstGeom prst="roundRect">
            <a:avLst/>
          </a:prstGeom>
          <a:solidFill>
            <a:srgbClr val="E9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14416"/>
            <a:ext cx="11155680" cy="31290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700" b="1" dirty="0">
                <a:solidFill>
                  <a:srgbClr val="0D182A"/>
                </a:solidFill>
                <a:latin typeface="Aptos"/>
              </a:rPr>
              <a:t>Plain-English pattern: read file → inspect data → calculate summary → filter rows → </a:t>
            </a:r>
            <a:r>
              <a:rPr sz="1700" b="1" dirty="0" err="1">
                <a:solidFill>
                  <a:srgbClr val="0D182A"/>
                </a:solidFill>
                <a:latin typeface="Aptos"/>
              </a:rPr>
              <a:t>visuali</a:t>
            </a:r>
            <a:r>
              <a:rPr lang="en-AU" sz="1700" b="1" dirty="0">
                <a:solidFill>
                  <a:srgbClr val="0D182A"/>
                </a:solidFill>
                <a:latin typeface="Aptos"/>
              </a:rPr>
              <a:t>z</a:t>
            </a:r>
            <a:r>
              <a:rPr sz="1700" b="1" dirty="0">
                <a:solidFill>
                  <a:srgbClr val="0D182A"/>
                </a:solidFill>
                <a:latin typeface="Aptos"/>
              </a:rPr>
              <a:t>e result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What to learn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After this beginner workshop, keep growing in the most useful direction.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566160" cy="14173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124712"/>
            <a:ext cx="301752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2000" b="1">
                <a:solidFill>
                  <a:srgbClr val="0D182A"/>
                </a:solidFill>
                <a:latin typeface="Aptos"/>
              </a:rPr>
              <a:t>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35607"/>
            <a:ext cx="3017520" cy="10058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320" b="0" dirty="0">
                <a:solidFill>
                  <a:srgbClr val="525F73"/>
                </a:solidFill>
                <a:latin typeface="Aptos"/>
              </a:rPr>
              <a:t>Classes, objects, attributes, methods and inheritance. Model real things in code.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5806440"/>
            <a:ext cx="2240280" cy="34747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2400" b="1">
                <a:solidFill>
                  <a:srgbClr val="0D182A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3171</Words>
  <Application>Microsoft Office PowerPoint</Application>
  <PresentationFormat>Widescreen</PresentationFormat>
  <Paragraphs>559</Paragraphs>
  <Slides>28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Abadi ExtraLight</vt:lpstr>
      <vt:lpstr>Aptos</vt:lpstr>
      <vt:lpstr>Aptos Display</vt:lpstr>
      <vt:lpstr>Arial</vt:lpstr>
      <vt:lpstr>Cascadia Mono</vt:lpstr>
      <vt:lpstr>Consolas</vt:lpstr>
      <vt:lpstr>Courier New</vt:lpstr>
      <vt:lpstr>DejaVu Sans Mono</vt:lpstr>
      <vt:lpstr>Dreaming Outloud Script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Work — Beginner Seminar</dc:title>
  <dc:subject>CDU beginner Python workshop</dc:subject>
  <dc:creator>OpenAI</dc:creator>
  <cp:lastModifiedBy>Dang Khoa Pham</cp:lastModifiedBy>
  <cp:revision>4</cp:revision>
  <dcterms:created xsi:type="dcterms:W3CDTF">2026-07-24T11:32:54Z</dcterms:created>
  <dcterms:modified xsi:type="dcterms:W3CDTF">2026-07-27T02:48:24Z</dcterms:modified>
</cp:coreProperties>
</file>