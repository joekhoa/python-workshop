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01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g Khoa Pham" userId="a0828928-506b-41e7-91fe-334565ca4eb5" providerId="ADAL" clId="{07F4103E-4D85-4DDD-92DF-5DC143FDFFF6}"/>
    <pc:docChg chg="undo custSel modSld sldOrd modShowInfo">
      <pc:chgData name="Dang Khoa Pham" userId="a0828928-506b-41e7-91fe-334565ca4eb5" providerId="ADAL" clId="{07F4103E-4D85-4DDD-92DF-5DC143FDFFF6}" dt="2026-07-28T13:12:36.738" v="209" actId="1076"/>
      <pc:docMkLst>
        <pc:docMk/>
      </pc:docMkLst>
      <pc:sldChg chg="addSp delSp modSp mod">
        <pc:chgData name="Dang Khoa Pham" userId="a0828928-506b-41e7-91fe-334565ca4eb5" providerId="ADAL" clId="{07F4103E-4D85-4DDD-92DF-5DC143FDFFF6}" dt="2026-07-28T13:12:36.738" v="209" actId="1076"/>
        <pc:sldMkLst>
          <pc:docMk/>
          <pc:sldMk cId="0" sldId="256"/>
        </pc:sldMkLst>
        <pc:spChg chg="mod">
          <ac:chgData name="Dang Khoa Pham" userId="a0828928-506b-41e7-91fe-334565ca4eb5" providerId="ADAL" clId="{07F4103E-4D85-4DDD-92DF-5DC143FDFFF6}" dt="2026-07-28T12:24:56.425" v="126" actId="205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Dang Khoa Pham" userId="a0828928-506b-41e7-91fe-334565ca4eb5" providerId="ADAL" clId="{07F4103E-4D85-4DDD-92DF-5DC143FDFFF6}" dt="2026-07-28T13:12:11.491" v="206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746" v="58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12:28.562" v="207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12:33.691" v="208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12:36.738" v="209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8:27.696" v="122" actId="1076"/>
          <ac:spMkLst>
            <pc:docMk/>
            <pc:sldMk cId="0" sldId="256"/>
            <ac:spMk id="11" creationId="{00000000-0000-0000-0000-000000000000}"/>
          </ac:spMkLst>
        </pc:spChg>
        <pc:spChg chg="add mod">
          <ac:chgData name="Dang Khoa Pham" userId="a0828928-506b-41e7-91fe-334565ca4eb5" providerId="ADAL" clId="{07F4103E-4D85-4DDD-92DF-5DC143FDFFF6}" dt="2026-07-26T01:28:33.862" v="124" actId="1076"/>
          <ac:spMkLst>
            <pc:docMk/>
            <pc:sldMk cId="0" sldId="256"/>
            <ac:spMk id="13" creationId="{7C7CDE32-4439-98CD-C106-B05A724ECD83}"/>
          </ac:spMkLst>
        </pc:spChg>
        <pc:picChg chg="add mod">
          <ac:chgData name="Dang Khoa Pham" userId="a0828928-506b-41e7-91fe-334565ca4eb5" providerId="ADAL" clId="{07F4103E-4D85-4DDD-92DF-5DC143FDFFF6}" dt="2026-07-26T01:28:33.862" v="124" actId="1076"/>
          <ac:picMkLst>
            <pc:docMk/>
            <pc:sldMk cId="0" sldId="256"/>
            <ac:picMk id="12" creationId="{9FBBAC53-E0EE-AF99-B3FE-D013C7955420}"/>
          </ac:picMkLst>
        </pc:picChg>
      </pc:sldChg>
      <pc:sldChg chg="modSp mod">
        <pc:chgData name="Dang Khoa Pham" userId="a0828928-506b-41e7-91fe-334565ca4eb5" providerId="ADAL" clId="{07F4103E-4D85-4DDD-92DF-5DC143FDFFF6}" dt="2026-07-26T01:24:01.594" v="19" actId="27636"/>
        <pc:sldMkLst>
          <pc:docMk/>
          <pc:sldMk cId="0" sldId="257"/>
        </pc:sldMkLst>
        <pc:spChg chg="mod">
          <ac:chgData name="Dang Khoa Pham" userId="a0828928-506b-41e7-91fe-334565ca4eb5" providerId="ADAL" clId="{07F4103E-4D85-4DDD-92DF-5DC143FDFFF6}" dt="2026-07-26T01:24:01.594" v="19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4:01.582" v="17" actId="276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4:01.582" v="18" actId="276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4:01.582" v="16" actId="2763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4:01.582" v="15" actId="2763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3:33.435" v="0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3:33.435" v="0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3:33.463" v="2" actId="2763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3:33.463" v="1" actId="2763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3:33.435" v="0" actId="1076"/>
          <ac:spMkLst>
            <pc:docMk/>
            <pc:sldMk cId="0" sldId="257"/>
            <ac:spMk id="24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25:03.849" v="69" actId="27636"/>
        <pc:sldMkLst>
          <pc:docMk/>
          <pc:sldMk cId="0" sldId="258"/>
        </pc:sldMkLst>
        <pc:spChg chg="mod">
          <ac:chgData name="Dang Khoa Pham" userId="a0828928-506b-41e7-91fe-334565ca4eb5" providerId="ADAL" clId="{07F4103E-4D85-4DDD-92DF-5DC143FDFFF6}" dt="2026-07-26T01:25:03.834" v="67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806" v="64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818" v="65" actId="276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790" v="61" actId="2763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841" v="68" actId="276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827" v="66" actId="2763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790" v="62" actId="2763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786" v="60" actId="2763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849" v="69" actId="2763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780" v="59" actId="2763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806" v="63" actId="27636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25:04.118" v="70" actId="20577"/>
        <pc:sldMkLst>
          <pc:docMk/>
          <pc:sldMk cId="0" sldId="259"/>
        </pc:sldMkLst>
        <pc:spChg chg="mod">
          <ac:chgData name="Dang Khoa Pham" userId="a0828928-506b-41e7-91fe-334565ca4eb5" providerId="ADAL" clId="{07F4103E-4D85-4DDD-92DF-5DC143FDFFF6}" dt="2026-07-26T01:25:04.118" v="70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25:22.950" v="75" actId="20577"/>
        <pc:sldMkLst>
          <pc:docMk/>
          <pc:sldMk cId="0" sldId="260"/>
        </pc:sldMkLst>
        <pc:spChg chg="mod">
          <ac:chgData name="Dang Khoa Pham" userId="a0828928-506b-41e7-91fe-334565ca4eb5" providerId="ADAL" clId="{07F4103E-4D85-4DDD-92DF-5DC143FDFFF6}" dt="2026-07-26T01:25:22.950" v="75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291" v="25" actId="276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299" v="26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282" v="24" actId="27636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25:30.374" v="80" actId="20577"/>
        <pc:sldMkLst>
          <pc:docMk/>
          <pc:sldMk cId="0" sldId="261"/>
        </pc:sldMkLst>
        <pc:spChg chg="mod">
          <ac:chgData name="Dang Khoa Pham" userId="a0828928-506b-41e7-91fe-334565ca4eb5" providerId="ADAL" clId="{07F4103E-4D85-4DDD-92DF-5DC143FDFFF6}" dt="2026-07-26T01:25:30.374" v="80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341" v="29" actId="276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324" v="27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332" v="28" actId="27636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25:50.407" v="94" actId="20577"/>
        <pc:sldMkLst>
          <pc:docMk/>
          <pc:sldMk cId="0" sldId="262"/>
        </pc:sldMkLst>
        <pc:spChg chg="mod">
          <ac:chgData name="Dang Khoa Pham" userId="a0828928-506b-41e7-91fe-334565ca4eb5" providerId="ADAL" clId="{07F4103E-4D85-4DDD-92DF-5DC143FDFFF6}" dt="2026-07-26T01:25:50.407" v="94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369" v="31" actId="27636"/>
          <ac:spMkLst>
            <pc:docMk/>
            <pc:sldMk cId="0" sldId="262"/>
            <ac:spMk id="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375" v="32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383" v="33" actId="27636"/>
          <ac:spMkLst>
            <pc:docMk/>
            <pc:sldMk cId="0" sldId="262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360" v="30" actId="27636"/>
          <ac:spMkLst>
            <pc:docMk/>
            <pc:sldMk cId="0" sldId="262"/>
            <ac:spMk id="9" creationId="{00000000-0000-0000-0000-000000000000}"/>
          </ac:spMkLst>
        </pc:spChg>
      </pc:sldChg>
      <pc:sldChg chg="addSp delSp modSp mod">
        <pc:chgData name="Dang Khoa Pham" userId="a0828928-506b-41e7-91fe-334565ca4eb5" providerId="ADAL" clId="{07F4103E-4D85-4DDD-92DF-5DC143FDFFF6}" dt="2026-07-28T13:08:33.294" v="202" actId="1076"/>
        <pc:sldMkLst>
          <pc:docMk/>
          <pc:sldMk cId="0" sldId="263"/>
        </pc:sldMkLst>
        <pc:spChg chg="mod">
          <ac:chgData name="Dang Khoa Pham" userId="a0828928-506b-41e7-91fe-334565ca4eb5" providerId="ADAL" clId="{07F4103E-4D85-4DDD-92DF-5DC143FDFFF6}" dt="2026-07-26T01:26:03.407" v="102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398" v="34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07:01.682" v="182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08:33.294" v="202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08:33.294" v="202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08:33.294" v="202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08:33.294" v="202" actId="1076"/>
          <ac:spMkLst>
            <pc:docMk/>
            <pc:sldMk cId="0" sldId="263"/>
            <ac:spMk id="12" creationId="{00000000-0000-0000-0000-000000000000}"/>
          </ac:spMkLst>
        </pc:spChg>
        <pc:spChg chg="del">
          <ac:chgData name="Dang Khoa Pham" userId="a0828928-506b-41e7-91fe-334565ca4eb5" providerId="ADAL" clId="{07F4103E-4D85-4DDD-92DF-5DC143FDFFF6}" dt="2026-07-28T12:56:24.928" v="130" actId="478"/>
          <ac:spMkLst>
            <pc:docMk/>
            <pc:sldMk cId="0" sldId="263"/>
            <ac:spMk id="13" creationId="{00000000-0000-0000-0000-000000000000}"/>
          </ac:spMkLst>
        </pc:spChg>
        <pc:picChg chg="add mod">
          <ac:chgData name="Dang Khoa Pham" userId="a0828928-506b-41e7-91fe-334565ca4eb5" providerId="ADAL" clId="{07F4103E-4D85-4DDD-92DF-5DC143FDFFF6}" dt="2026-07-28T13:08:16.214" v="201" actId="14100"/>
          <ac:picMkLst>
            <pc:docMk/>
            <pc:sldMk cId="0" sldId="263"/>
            <ac:picMk id="15" creationId="{2EAAA18D-A624-9196-7037-A2708B8E4092}"/>
          </ac:picMkLst>
        </pc:picChg>
        <pc:picChg chg="add mod">
          <ac:chgData name="Dang Khoa Pham" userId="a0828928-506b-41e7-91fe-334565ca4eb5" providerId="ADAL" clId="{07F4103E-4D85-4DDD-92DF-5DC143FDFFF6}" dt="2026-07-28T13:08:01.806" v="196" actId="1076"/>
          <ac:picMkLst>
            <pc:docMk/>
            <pc:sldMk cId="0" sldId="263"/>
            <ac:picMk id="17" creationId="{C8C69AC7-E028-00CC-0168-5CE68B436590}"/>
          </ac:picMkLst>
        </pc:picChg>
      </pc:sldChg>
      <pc:sldChg chg="modSp mod">
        <pc:chgData name="Dang Khoa Pham" userId="a0828928-506b-41e7-91fe-334565ca4eb5" providerId="ADAL" clId="{07F4103E-4D85-4DDD-92DF-5DC143FDFFF6}" dt="2026-07-28T12:58:34.657" v="158" actId="1076"/>
        <pc:sldMkLst>
          <pc:docMk/>
          <pc:sldMk cId="0" sldId="264"/>
        </pc:sldMkLst>
        <pc:spChg chg="mod">
          <ac:chgData name="Dang Khoa Pham" userId="a0828928-506b-41e7-91fe-334565ca4eb5" providerId="ADAL" clId="{07F4103E-4D85-4DDD-92DF-5DC143FDFFF6}" dt="2026-07-28T12:58:34.657" v="158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426" v="35" actId="276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2:58:16.385" v="156" actId="207"/>
          <ac:spMkLst>
            <pc:docMk/>
            <pc:sldMk cId="0" sldId="264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447" v="37" actId="276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437" v="36" actId="27636"/>
          <ac:spMkLst>
            <pc:docMk/>
            <pc:sldMk cId="0" sldId="264"/>
            <ac:spMk id="10" creationId="{00000000-0000-0000-0000-000000000000}"/>
          </ac:spMkLst>
        </pc:spChg>
      </pc:sldChg>
      <pc:sldChg chg="addSp delSp modSp mod">
        <pc:chgData name="Dang Khoa Pham" userId="a0828928-506b-41e7-91fe-334565ca4eb5" providerId="ADAL" clId="{07F4103E-4D85-4DDD-92DF-5DC143FDFFF6}" dt="2026-07-28T13:06:32.382" v="174" actId="1076"/>
        <pc:sldMkLst>
          <pc:docMk/>
          <pc:sldMk cId="0" sldId="265"/>
        </pc:sldMkLst>
        <pc:spChg chg="mod">
          <ac:chgData name="Dang Khoa Pham" userId="a0828928-506b-41e7-91fe-334565ca4eb5" providerId="ADAL" clId="{07F4103E-4D85-4DDD-92DF-5DC143FDFFF6}" dt="2026-07-26T01:26:35.714" v="10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04:24.699" v="160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516" v="43" actId="276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04:20.800" v="159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04:20.800" v="159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04:20.800" v="159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8T13:04:20.800" v="159" actId="1076"/>
          <ac:spMkLst>
            <pc:docMk/>
            <pc:sldMk cId="0" sldId="265"/>
            <ac:spMk id="11" creationId="{00000000-0000-0000-0000-000000000000}"/>
          </ac:spMkLst>
        </pc:spChg>
        <pc:picChg chg="add del mod">
          <ac:chgData name="Dang Khoa Pham" userId="a0828928-506b-41e7-91fe-334565ca4eb5" providerId="ADAL" clId="{07F4103E-4D85-4DDD-92DF-5DC143FDFFF6}" dt="2026-07-28T13:06:24.558" v="170" actId="478"/>
          <ac:picMkLst>
            <pc:docMk/>
            <pc:sldMk cId="0" sldId="265"/>
            <ac:picMk id="12" creationId="{1E42FD37-272E-0AA0-6634-6819FFB760B1}"/>
          </ac:picMkLst>
        </pc:picChg>
        <pc:picChg chg="add mod">
          <ac:chgData name="Dang Khoa Pham" userId="a0828928-506b-41e7-91fe-334565ca4eb5" providerId="ADAL" clId="{07F4103E-4D85-4DDD-92DF-5DC143FDFFF6}" dt="2026-07-28T13:06:32.382" v="174" actId="1076"/>
          <ac:picMkLst>
            <pc:docMk/>
            <pc:sldMk cId="0" sldId="265"/>
            <ac:picMk id="14" creationId="{65AA47C5-AAE0-5A14-6758-48BF46D76BD9}"/>
          </ac:picMkLst>
        </pc:picChg>
      </pc:sldChg>
      <pc:sldChg chg="modSp mod">
        <pc:chgData name="Dang Khoa Pham" userId="a0828928-506b-41e7-91fe-334565ca4eb5" providerId="ADAL" clId="{07F4103E-4D85-4DDD-92DF-5DC143FDFFF6}" dt="2026-07-26T01:25:03.580" v="47" actId="27636"/>
        <pc:sldMkLst>
          <pc:docMk/>
          <pc:sldMk cId="0" sldId="266"/>
        </pc:sldMkLst>
        <pc:spChg chg="mod">
          <ac:chgData name="Dang Khoa Pham" userId="a0828928-506b-41e7-91fe-334565ca4eb5" providerId="ADAL" clId="{07F4103E-4D85-4DDD-92DF-5DC143FDFFF6}" dt="2026-07-26T01:25:03.565" v="45" actId="27636"/>
          <ac:spMkLst>
            <pc:docMk/>
            <pc:sldMk cId="0" sldId="266"/>
            <ac:spMk id="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580" v="47" actId="276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574" v="46" actId="276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555" v="44" actId="27636"/>
          <ac:spMkLst>
            <pc:docMk/>
            <pc:sldMk cId="0" sldId="266"/>
            <ac:spMk id="9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25:03.631" v="51" actId="27636"/>
        <pc:sldMkLst>
          <pc:docMk/>
          <pc:sldMk cId="0" sldId="267"/>
        </pc:sldMkLst>
        <pc:spChg chg="mod">
          <ac:chgData name="Dang Khoa Pham" userId="a0828928-506b-41e7-91fe-334565ca4eb5" providerId="ADAL" clId="{07F4103E-4D85-4DDD-92DF-5DC143FDFFF6}" dt="2026-07-26T01:25:03.631" v="51" actId="27636"/>
          <ac:spMkLst>
            <pc:docMk/>
            <pc:sldMk cId="0" sldId="267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622" v="50" actId="27636"/>
          <ac:spMkLst>
            <pc:docMk/>
            <pc:sldMk cId="0" sldId="267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601" v="48" actId="276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613" v="49" actId="27636"/>
          <ac:spMkLst>
            <pc:docMk/>
            <pc:sldMk cId="0" sldId="267"/>
            <ac:spMk id="11" creationId="{00000000-0000-0000-0000-000000000000}"/>
          </ac:spMkLst>
        </pc:spChg>
      </pc:sldChg>
      <pc:sldChg chg="modSp mod ord">
        <pc:chgData name="Dang Khoa Pham" userId="a0828928-506b-41e7-91fe-334565ca4eb5" providerId="ADAL" clId="{07F4103E-4D85-4DDD-92DF-5DC143FDFFF6}" dt="2026-07-28T13:10:19.154" v="204"/>
        <pc:sldMkLst>
          <pc:docMk/>
          <pc:sldMk cId="0" sldId="268"/>
        </pc:sldMkLst>
        <pc:spChg chg="mod">
          <ac:chgData name="Dang Khoa Pham" userId="a0828928-506b-41e7-91fe-334565ca4eb5" providerId="ADAL" clId="{07F4103E-4D85-4DDD-92DF-5DC143FDFFF6}" dt="2026-07-26T01:27:18.156" v="121" actId="20577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8T13:10:44.663" v="205" actId="14100"/>
        <pc:sldMkLst>
          <pc:docMk/>
          <pc:sldMk cId="0" sldId="269"/>
        </pc:sldMkLst>
        <pc:spChg chg="mod">
          <ac:chgData name="Dang Khoa Pham" userId="a0828928-506b-41e7-91fe-334565ca4eb5" providerId="ADAL" clId="{07F4103E-4D85-4DDD-92DF-5DC143FDFFF6}" dt="2026-07-28T13:10:44.663" v="205" actId="14100"/>
          <ac:spMkLst>
            <pc:docMk/>
            <pc:sldMk cId="0" sldId="269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658" v="52" actId="276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666" v="53" actId="27636"/>
          <ac:spMkLst>
            <pc:docMk/>
            <pc:sldMk cId="0" sldId="269"/>
            <ac:spMk id="12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25:03.715" v="57" actId="27636"/>
        <pc:sldMkLst>
          <pc:docMk/>
          <pc:sldMk cId="0" sldId="270"/>
        </pc:sldMkLst>
        <pc:spChg chg="mod">
          <ac:chgData name="Dang Khoa Pham" userId="a0828928-506b-41e7-91fe-334565ca4eb5" providerId="ADAL" clId="{07F4103E-4D85-4DDD-92DF-5DC143FDFFF6}" dt="2026-07-26T01:25:03.685" v="54" actId="27636"/>
          <ac:spMkLst>
            <pc:docMk/>
            <pc:sldMk cId="0" sldId="270"/>
            <ac:spMk id="5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715" v="57" actId="27636"/>
          <ac:spMkLst>
            <pc:docMk/>
            <pc:sldMk cId="0" sldId="270"/>
            <ac:spMk id="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707" v="56" actId="2763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25:03.701" v="55" actId="27636"/>
          <ac:spMkLst>
            <pc:docMk/>
            <pc:sldMk cId="0" sldId="270"/>
            <ac:spMk id="11" creationId="{00000000-0000-0000-0000-000000000000}"/>
          </ac:spMkLst>
        </pc:spChg>
      </pc:sldChg>
      <pc:sldChg chg="delSp modSp mod">
        <pc:chgData name="Dang Khoa Pham" userId="a0828928-506b-41e7-91fe-334565ca4eb5" providerId="ADAL" clId="{07F4103E-4D85-4DDD-92DF-5DC143FDFFF6}" dt="2026-07-28T12:28:53.530" v="129" actId="478"/>
        <pc:sldMkLst>
          <pc:docMk/>
          <pc:sldMk cId="0" sldId="272"/>
        </pc:sldMkLst>
        <pc:spChg chg="del mod">
          <ac:chgData name="Dang Khoa Pham" userId="a0828928-506b-41e7-91fe-334565ca4eb5" providerId="ADAL" clId="{07F4103E-4D85-4DDD-92DF-5DC143FDFFF6}" dt="2026-07-28T12:28:53.530" v="129" actId="478"/>
          <ac:spMkLst>
            <pc:docMk/>
            <pc:sldMk cId="0" sldId="272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322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</a:rPr>
              <a:t>Python for Work 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06070"/>
                </a:solidFill>
              </a:rPr>
              <a:t>Intermediate Python for Beginners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585216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vehicle = Vehicle("VAN-204", tyres=4, fuel=72)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vehicle.start_engine()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vehicle.drive(km=18)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print(vehicle.status())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5394960" cy="1005840"/>
          </a:xfrm>
          <a:prstGeom prst="rect">
            <a:avLst/>
          </a:prstGeom>
          <a:solidFill>
            <a:srgbClr val="E8F2FF"/>
          </a:solidFill>
          <a:ln w="12700">
            <a:solidFill>
              <a:srgbClr val="BBD7FF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64C8"/>
                </a:solidFill>
              </a:rPr>
              <a:t>Main promise
</a:t>
            </a:r>
            <a:r>
              <a:rPr lang="en-US" sz="1800" dirty="0">
                <a:solidFill>
                  <a:srgbClr val="506070"/>
                </a:solidFill>
              </a:rPr>
              <a:t>Build a small fleet maintenance system using try/except, modules, classes, methods and inheritance.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63640" y="3977640"/>
            <a:ext cx="5212080" cy="1005840"/>
          </a:xfrm>
          <a:prstGeom prst="rect">
            <a:avLst/>
          </a:prstGeom>
          <a:solidFill>
            <a:srgbClr val="E8F7F1"/>
          </a:solidFill>
          <a:ln w="12700">
            <a:solidFill>
              <a:srgbClr val="B6E2D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Workshop story
</a:t>
            </a:r>
            <a:r>
              <a:rPr lang="en-US" sz="1800" dirty="0">
                <a:solidFill>
                  <a:srgbClr val="506070"/>
                </a:solidFill>
              </a:rPr>
              <a:t>A van has tyres, fuel, mileage and routes. The program checks readiness and creates a report.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10781" y="321868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🚐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721434" y="33375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⚙️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592737" y="33375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📋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8368" y="6503972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</a:rPr>
              <a:t>Notebook = guided practice     Python script = same story as runnable code</a:t>
            </a:r>
            <a:endParaRPr lang="en-US" sz="1800" dirty="0"/>
          </a:p>
        </p:txBody>
      </p:sp>
      <p:pic>
        <p:nvPicPr>
          <p:cNvPr id="12" name="Picture 11" descr="18,276 Python Symbol Royalty-Free Images, Stock Photos &amp; Pictures | Shutterstock">
            <a:extLst>
              <a:ext uri="{FF2B5EF4-FFF2-40B4-BE49-F238E27FC236}">
                <a16:creationId xmlns:a16="http://schemas.microsoft.com/office/drawing/2014/main" id="{9FBBAC53-E0EE-AF99-B3FE-D013C7955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449" y="4984151"/>
            <a:ext cx="1475994" cy="158953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8">
            <a:extLst>
              <a:ext uri="{FF2B5EF4-FFF2-40B4-BE49-F238E27FC236}">
                <a16:creationId xmlns:a16="http://schemas.microsoft.com/office/drawing/2014/main" id="{7C7CDE32-4439-98CD-C106-B05A724ECD83}"/>
              </a:ext>
            </a:extLst>
          </p:cNvPr>
          <p:cNvSpPr txBox="1"/>
          <p:nvPr/>
        </p:nvSpPr>
        <p:spPr>
          <a:xfrm>
            <a:off x="4458450" y="5303643"/>
            <a:ext cx="45743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dirty="0">
                <a:solidFill>
                  <a:schemeClr val="accent6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Programming is huge</a:t>
            </a:r>
            <a:r>
              <a:rPr lang="en-US">
                <a:solidFill>
                  <a:schemeClr val="accent6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, but we’ll </a:t>
            </a:r>
            <a:r>
              <a:rPr lang="en-US" dirty="0">
                <a:solidFill>
                  <a:schemeClr val="accent6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keep it beginner-friendly and learn the useful basics first — enough to start self-learning and reading real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picture: where Workshop 2 takes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From simple code cells to reusable programs that model real-world things.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solidFill>
            <a:srgbClr val="1E64C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4081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Handle problems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5800" y="1889185"/>
            <a:ext cx="1862098" cy="7442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06070"/>
                </a:solidFill>
              </a:rPr>
              <a:t>try/except keeps a bad input from crashing the program.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953512" y="1417320"/>
            <a:ext cx="384048" cy="384048"/>
          </a:xfrm>
          <a:prstGeom prst="rect">
            <a:avLst/>
          </a:prstGeom>
          <a:solidFill>
            <a:srgbClr val="1E64C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56432" y="14081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Organise code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2953512" y="1889185"/>
            <a:ext cx="1862098" cy="7442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06070"/>
                </a:solidFill>
              </a:rPr>
              <a:t>Modules keep related helper code in reusable files.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221224" y="1417320"/>
            <a:ext cx="384048" cy="384048"/>
          </a:xfrm>
          <a:prstGeom prst="rect">
            <a:avLst/>
          </a:prstGeom>
          <a:solidFill>
            <a:srgbClr val="1E64C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24144" y="14081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Model things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221224" y="1889185"/>
            <a:ext cx="1862098" cy="7442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06070"/>
                </a:solidFill>
              </a:rPr>
              <a:t>Classes and objects represent real things.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88936" y="1417320"/>
            <a:ext cx="384048" cy="384048"/>
          </a:xfrm>
          <a:prstGeom prst="rect">
            <a:avLst/>
          </a:prstGeom>
          <a:solidFill>
            <a:srgbClr val="1E64C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91856" y="14081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Add behaviour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88936" y="1889185"/>
            <a:ext cx="1862098" cy="7442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06070"/>
                </a:solidFill>
              </a:rPr>
              <a:t>Methods make objects do useful work.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756648" y="1417320"/>
            <a:ext cx="384048" cy="384048"/>
          </a:xfrm>
          <a:prstGeom prst="rect">
            <a:avLst/>
          </a:prstGeom>
          <a:solidFill>
            <a:srgbClr val="1E64C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59568" y="14081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Reuse patterns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56648" y="1889185"/>
            <a:ext cx="1862098" cy="7442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06070"/>
                </a:solidFill>
              </a:rPr>
              <a:t>Inheritance shares common behaviour.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0352" y="3435901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</a:rPr>
              <a:t>One story through the whole workshop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0352" y="3847381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Fleet maintenance system
</a:t>
            </a:r>
            <a:r>
              <a:rPr lang="en-US" sz="1800" dirty="0">
                <a:solidFill>
                  <a:srgbClr val="506070"/>
                </a:solidFill>
              </a:rPr>
              <a:t>vehicles have tyres + engines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06070"/>
                </a:solidFill>
              </a:rPr>
              <a:t>trips change mileage + fuel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06070"/>
                </a:solidFill>
              </a:rPr>
              <a:t>service rules prevent breakdowns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06070"/>
                </a:solidFill>
              </a:rPr>
              <a:t>reports support work decisions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91072" y="3847381"/>
            <a:ext cx="2423160" cy="91440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64C8"/>
                </a:solidFill>
              </a:rPr>
              <a:t>60% slides
</a:t>
            </a:r>
            <a:r>
              <a:rPr lang="en-US" sz="1700" dirty="0">
                <a:solidFill>
                  <a:srgbClr val="506070"/>
                </a:solidFill>
              </a:rPr>
              <a:t>Understand the big picture, mental models and small examples.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942832" y="3847381"/>
            <a:ext cx="2423160" cy="91440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</a:rPr>
              <a:t>40% demo
</a:t>
            </a:r>
            <a:r>
              <a:rPr lang="en-US" sz="1700" dirty="0">
                <a:solidFill>
                  <a:srgbClr val="506070"/>
                </a:solidFill>
              </a:rPr>
              <a:t>Run the matching notebook and Python script in VS Code.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04672" y="6252253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4C8"/>
                </a:solidFill>
              </a:rPr>
              <a:t>Goal: students can read, modify and extend a small practical Python program.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3-hour roadmap: what we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80/20 scope: useful topics first, advanced ideas only briefly.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188720" cy="347472"/>
          </a:xfrm>
          <a:prstGeom prst="rect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64C8"/>
                </a:solidFill>
              </a:rPr>
              <a:t>0:00–0:10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011680" y="13167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02033"/>
                </a:solidFill>
              </a:rPr>
              <a:t>Quick review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201168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506070"/>
                </a:solidFill>
              </a:rPr>
              <a:t>Variables, lists, dictionaries, functions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6309360" y="1325880"/>
            <a:ext cx="1188720" cy="347472"/>
          </a:xfrm>
          <a:prstGeom prst="rect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64C8"/>
                </a:solidFill>
              </a:rPr>
              <a:t>0:10–0:30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35240" y="13167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02033"/>
                </a:solidFill>
              </a:rPr>
              <a:t>try/except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3524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506070"/>
                </a:solidFill>
              </a:rPr>
              <a:t>Make programs safer with simple validation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685800" y="2386584"/>
            <a:ext cx="1188720" cy="347472"/>
          </a:xfrm>
          <a:prstGeom prst="rect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64C8"/>
                </a:solidFill>
              </a:rPr>
              <a:t>0:30–0:50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011680" y="2377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02033"/>
                </a:solidFill>
              </a:rPr>
              <a:t>Modules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2011680" y="26883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506070"/>
                </a:solidFill>
              </a:rPr>
              <a:t>Organise helpers into reusable files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309360" y="2386584"/>
            <a:ext cx="1188720" cy="347472"/>
          </a:xfrm>
          <a:prstGeom prst="rect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64C8"/>
                </a:solidFill>
              </a:rPr>
              <a:t>0:50–1:25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35240" y="2377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02033"/>
                </a:solidFill>
              </a:rPr>
              <a:t>OOP core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635240" y="26883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506070"/>
                </a:solidFill>
              </a:rPr>
              <a:t>Classes, objects, attributes and methods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685800" y="3447288"/>
            <a:ext cx="1188720" cy="347472"/>
          </a:xfrm>
          <a:prstGeom prst="rect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64C8"/>
                </a:solidFill>
              </a:rPr>
              <a:t>1:25–1:50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011680" y="3438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02033"/>
                </a:solidFill>
              </a:rPr>
              <a:t>Variable scope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20116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506070"/>
                </a:solidFill>
              </a:rPr>
              <a:t>Global, local, class and instance variables</a:t>
            </a:r>
            <a:endParaRPr lang="en-US" sz="1560" dirty="0"/>
          </a:p>
        </p:txBody>
      </p:sp>
      <p:sp>
        <p:nvSpPr>
          <p:cNvPr id="20" name="Text 18"/>
          <p:cNvSpPr/>
          <p:nvPr/>
        </p:nvSpPr>
        <p:spPr>
          <a:xfrm>
            <a:off x="6309360" y="3447288"/>
            <a:ext cx="1188720" cy="347472"/>
          </a:xfrm>
          <a:prstGeom prst="rect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64C8"/>
                </a:solidFill>
              </a:rPr>
              <a:t>1:50–2:15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635240" y="3438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02033"/>
                </a:solidFill>
              </a:rPr>
              <a:t>Single inheritance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63524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506070"/>
                </a:solidFill>
              </a:rPr>
              <a:t>Reuse parent code and specialise child classes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685800" y="4507992"/>
            <a:ext cx="1188720" cy="347472"/>
          </a:xfrm>
          <a:prstGeom prst="rect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64C8"/>
                </a:solidFill>
              </a:rPr>
              <a:t>2:15–2:35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011680" y="44988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02033"/>
                </a:solidFill>
              </a:rPr>
              <a:t>Brief advanced ideas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2011680" y="48097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506070"/>
                </a:solidFill>
              </a:rPr>
              <a:t>*args, **kwargs, multiple inheritance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6309360" y="4507992"/>
            <a:ext cx="1188720" cy="347472"/>
          </a:xfrm>
          <a:prstGeom prst="rect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64C8"/>
                </a:solidFill>
              </a:rPr>
              <a:t>2:35–3:00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635240" y="44988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02033"/>
                </a:solidFill>
              </a:rPr>
              <a:t>Practical project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635240" y="48097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506070"/>
                </a:solidFill>
              </a:rPr>
              <a:t>Build a fleet readiness report</a:t>
            </a:r>
            <a:endParaRPr lang="en-US" sz="1560" dirty="0"/>
          </a:p>
        </p:txBody>
      </p:sp>
      <p:sp>
        <p:nvSpPr>
          <p:cNvPr id="29" name="Text 27"/>
          <p:cNvSpPr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solidFill>
            <a:srgbClr val="FFF6D6"/>
          </a:solidFill>
          <a:ln w="12700">
            <a:solidFill>
              <a:srgbClr val="F6DA8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59E0B"/>
                </a:solidFill>
              </a:rPr>
              <a:t>Leave for later
</a:t>
            </a:r>
            <a:r>
              <a:rPr lang="en-US" sz="1650" dirty="0">
                <a:solidFill>
                  <a:srgbClr val="506070"/>
                </a:solidFill>
              </a:rPr>
              <a:t>Decorators, abstract classes, complex Method Resolution Order, package publishing and advanced OOP design.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</a:t>
            </a:r>
            <a:r>
              <a:rPr lang="en-US" sz="3200" b="1" dirty="0">
                <a:solidFill>
                  <a:srgbClr val="102033"/>
                </a:solidFill>
              </a:rPr>
              <a:t>Quick review</a:t>
            </a: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] One consistent story: Fleet maintenance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Same variables and data context from examples to final project.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12064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vehicle_id = "VAN-204"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vehicle_type = "Delivery van"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tyres = 4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fuel_level = 72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current_km = 18600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service_due_km = 20000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route = ["Depot", "Library", "Lab"]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6080760" y="1325880"/>
            <a:ext cx="5440680" cy="91440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64C8"/>
                </a:solidFill>
              </a:rPr>
              <a:t>🚐 Why a fleet story helps
</a:t>
            </a:r>
            <a:r>
              <a:rPr lang="en-US" sz="1800" dirty="0">
                <a:solidFill>
                  <a:srgbClr val="506070"/>
                </a:solidFill>
              </a:rPr>
              <a:t>Vehicles are easy to imagine: they have parts, move on routes and need service checks.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80760" y="2423160"/>
            <a:ext cx="5440680" cy="91440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📊 Final project output
</a:t>
            </a:r>
            <a:r>
              <a:rPr lang="en-US" sz="1800" dirty="0">
                <a:solidFill>
                  <a:srgbClr val="506070"/>
                </a:solidFill>
              </a:rPr>
              <a:t>A readiness report that checks each vehicle, calculates trip distance and flags service needs.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</a:rPr>
              <a:t>Topic mapping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4370832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033"/>
                </a:solidFill>
              </a:rPr>
              <a:t>Errors
</a:t>
            </a:r>
            <a:r>
              <a:rPr lang="en-US" sz="1550" dirty="0">
                <a:solidFill>
                  <a:srgbClr val="506070"/>
                </a:solidFill>
              </a:rPr>
              <a:t>Validate km, tyre count, fuel level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480560" y="4370832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033"/>
                </a:solidFill>
              </a:rPr>
              <a:t>Modules
</a:t>
            </a:r>
            <a:r>
              <a:rPr lang="en-US" sz="1550" dirty="0">
                <a:solidFill>
                  <a:srgbClr val="506070"/>
                </a:solidFill>
              </a:rPr>
              <a:t>Move reusable checks into a helper file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75320" y="4370832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033"/>
                </a:solidFill>
              </a:rPr>
              <a:t>Classes
</a:t>
            </a:r>
            <a:r>
              <a:rPr lang="en-US" sz="1550" dirty="0">
                <a:solidFill>
                  <a:srgbClr val="506070"/>
                </a:solidFill>
              </a:rPr>
              <a:t>Vehicle as a blueprint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5800" y="5084064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033"/>
                </a:solidFill>
              </a:rPr>
              <a:t>Attributes
</a:t>
            </a:r>
            <a:r>
              <a:rPr lang="en-US" sz="1550" dirty="0">
                <a:solidFill>
                  <a:srgbClr val="506070"/>
                </a:solidFill>
              </a:rPr>
              <a:t>tyres, fuel, mileage, route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80560" y="5084064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033"/>
                </a:solidFill>
              </a:rPr>
              <a:t>Methods
</a:t>
            </a:r>
            <a:r>
              <a:rPr lang="en-US" sz="1550" dirty="0">
                <a:solidFill>
                  <a:srgbClr val="506070"/>
                </a:solidFill>
              </a:rPr>
              <a:t>start_engine(), drive(), status()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75320" y="5084064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033"/>
                </a:solidFill>
              </a:rPr>
              <a:t>Inheritance
</a:t>
            </a:r>
            <a:r>
              <a:rPr lang="en-US" sz="1550" dirty="0">
                <a:solidFill>
                  <a:srgbClr val="506070"/>
                </a:solidFill>
              </a:rPr>
              <a:t>DeliveryVan and ServiceTruck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</a:t>
            </a:r>
            <a:r>
              <a:rPr lang="en-US" sz="3200" b="1" dirty="0">
                <a:solidFill>
                  <a:srgbClr val="102033"/>
                </a:solidFill>
              </a:rPr>
              <a:t>try/except</a:t>
            </a: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] Errors and try/except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Use try/except when something might fail, especially user input or files.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62356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raw_km = "eighteen"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try: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trip_km = float(raw_km)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print("Trip distance:", trip_km)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except ValueError: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print("Please enter a number, e.g. 18")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6629400" y="1417320"/>
            <a:ext cx="4663440" cy="77724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64C8"/>
                </a:solidFill>
              </a:rPr>
              <a:t>🧯 Mental model
</a:t>
            </a:r>
            <a:r>
              <a:rPr lang="en-US" sz="1800" dirty="0">
                <a:solidFill>
                  <a:srgbClr val="506070"/>
                </a:solidFill>
              </a:rPr>
              <a:t>Try a risky action. If it fails, run a safe backup plan.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29400" y="2359152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🐞 Common beginner errors
</a:t>
            </a:r>
            <a:r>
              <a:rPr lang="en-US" sz="1800" dirty="0">
                <a:solidFill>
                  <a:srgbClr val="506070"/>
                </a:solidFill>
              </a:rPr>
              <a:t>ValueError, TypeError, NameError and FileNotFoundError.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3310128"/>
            <a:ext cx="4663440" cy="77724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✅ 80/20 rule
</a:t>
            </a:r>
            <a:r>
              <a:rPr lang="en-US" sz="1800" dirty="0">
                <a:solidFill>
                  <a:srgbClr val="506070"/>
                </a:solidFill>
              </a:rPr>
              <a:t>Teach simple validation. Do not go deep into custom exceptions yet.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64C8"/>
                </a:solidFill>
              </a:rPr>
              <a:t>Student activity: change "eighteen" to "18" and run again.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</a:t>
            </a:r>
            <a:r>
              <a:rPr lang="en-US" sz="3200" b="1" dirty="0">
                <a:solidFill>
                  <a:srgbClr val="102033"/>
                </a:solidFill>
              </a:rPr>
              <a:t>try/except</a:t>
            </a: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] Reusable validation pattern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Put try/except into a helper function so you can reuse it many times.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617220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def get_positive_number(value, field_name):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try: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number = float(value)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if number &lt;= 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raise ValueError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 number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except ValueError: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print(f"Invalid {field_name}")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 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trip_km = get_positive_number("18", "trip km")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tyres = get_positive_number("4", "tyres")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0" y="1325880"/>
            <a:ext cx="4206240" cy="82296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64C8"/>
                </a:solidFill>
              </a:rPr>
              <a:t>🛡️ Why this matters
</a:t>
            </a:r>
            <a:r>
              <a:rPr lang="en-US" sz="1800" dirty="0">
                <a:solidFill>
                  <a:srgbClr val="506070"/>
                </a:solidFill>
              </a:rPr>
              <a:t>A fleet report should not crash because one vehicle has bad input.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0" y="2331720"/>
            <a:ext cx="4206240" cy="82296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🔁 Reusable thinking
</a:t>
            </a:r>
            <a:r>
              <a:rPr lang="en-US" sz="1800" dirty="0">
                <a:solidFill>
                  <a:srgbClr val="506070"/>
                </a:solidFill>
              </a:rPr>
              <a:t>One function can validate distance, fuel, tyres or service mileage.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0" y="3337560"/>
            <a:ext cx="4206240" cy="822960"/>
          </a:xfrm>
          <a:prstGeom prst="rect">
            <a:avLst/>
          </a:prstGeom>
          <a:solidFill>
            <a:srgbClr val="FFF6D6"/>
          </a:solidFill>
          <a:ln w="12700">
            <a:solidFill>
              <a:srgbClr val="F6DA84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🧪 Demo instruction
</a:t>
            </a:r>
            <a:r>
              <a:rPr lang="en-US" sz="1800" dirty="0">
                <a:solidFill>
                  <a:srgbClr val="506070"/>
                </a:solidFill>
              </a:rPr>
              <a:t>Run the notebook cell, then try "abc", -5 and 0.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0" y="4480560"/>
            <a:ext cx="4206240" cy="731520"/>
          </a:xfrm>
          <a:prstGeom prst="rect">
            <a:avLst/>
          </a:prstGeom>
          <a:solidFill>
            <a:srgbClr val="F1F5F9"/>
          </a:solidFill>
          <a:ln>
            <a:solidFill>
              <a:srgbClr val="D4DE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Input → validate → safe number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Bad input → message → 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[Modules] Modules, packages and pip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Modules help organise code. pip installs external packages.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71500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Built-in modules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datetime import date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math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print(date.today())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print(math.ceil(18.2))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Custom module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fleet_tools import calculate_service_gap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720840" y="1325880"/>
            <a:ext cx="4480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📄 Module
</a:t>
            </a:r>
            <a:r>
              <a:rPr lang="en-US" sz="1750" dirty="0">
                <a:solidFill>
                  <a:srgbClr val="506070"/>
                </a:solidFill>
              </a:rPr>
              <a:t>A Python file you can import, such as fleet_tools.py.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720840" y="2258568"/>
            <a:ext cx="4480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📦 Package
</a:t>
            </a:r>
            <a:r>
              <a:rPr lang="en-US" sz="1750" dirty="0">
                <a:solidFill>
                  <a:srgbClr val="506070"/>
                </a:solidFill>
              </a:rPr>
              <a:t>A folder or installed library containing modules.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720840" y="3191256"/>
            <a:ext cx="4480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⬇️ pip
</a:t>
            </a:r>
            <a:r>
              <a:rPr lang="en-US" sz="1750" dirty="0">
                <a:solidFill>
                  <a:srgbClr val="506070"/>
                </a:solidFill>
              </a:rPr>
              <a:t>Tool used to install packages from Python Package Index.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720840" y="4123944"/>
            <a:ext cx="4480560" cy="749808"/>
          </a:xfrm>
          <a:prstGeom prst="rect">
            <a:avLst/>
          </a:prstGeom>
          <a:solidFill>
            <a:srgbClr val="FFF6D6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59E0B"/>
                </a:solidFill>
              </a:rPr>
              <a:t>80/20 Priority
</a:t>
            </a:r>
            <a:r>
              <a:rPr lang="en-US" sz="1750" dirty="0">
                <a:solidFill>
                  <a:srgbClr val="506070"/>
                </a:solidFill>
              </a:rPr>
              <a:t>Know import + pip install. Package publishing comes later.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10149840" cy="640080"/>
          </a:xfrm>
          <a:prstGeom prst="rect">
            <a:avLst/>
          </a:prstGeom>
          <a:solidFill>
            <a:srgbClr val="F1F5F9"/>
          </a:solidFill>
          <a:ln>
            <a:solidFill>
              <a:srgbClr val="D4DE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 -m pip install pandas matplotlib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-m pip install pandas matplotlib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</a:t>
            </a:r>
            <a:r>
              <a:rPr lang="en-US" sz="3000" b="1" dirty="0" err="1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</a:t>
            </a: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&amp; </a:t>
            </a:r>
            <a:r>
              <a:rPr lang="en-US" sz="3000" b="1" dirty="0" err="1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kwarg</a:t>
            </a: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] Brief: *args and **kwargs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Useful for flexible inputs, but do not overuse them in beginner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07492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def add_trip_stops(*stops):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for stop in stops: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print("Stop:", stop)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add_trip_stops("Depot", "Library", "Lab")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507492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def show_vehicle_details(**details):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for key, value in details.items():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print(key, value)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show_vehicle_details(driver="Mia", route="North")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72200" y="1508760"/>
            <a:ext cx="4800600" cy="105156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64C8"/>
                </a:solidFill>
              </a:rPr>
              <a:t>*args
</a:t>
            </a:r>
            <a:r>
              <a:rPr lang="en-US" sz="2200" dirty="0">
                <a:solidFill>
                  <a:srgbClr val="506070"/>
                </a:solidFill>
              </a:rPr>
              <a:t>Many positional values: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506070"/>
                </a:solidFill>
              </a:rPr>
              <a:t>stop1, stop2, stop3...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72200" y="3108960"/>
            <a:ext cx="4800600" cy="105156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</a:rPr>
              <a:t>**kwargs
</a:t>
            </a:r>
            <a:r>
              <a:rPr lang="en-US" sz="2200" dirty="0">
                <a:solidFill>
                  <a:srgbClr val="506070"/>
                </a:solidFill>
              </a:rPr>
              <a:t>Many named values: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506070"/>
                </a:solidFill>
              </a:rPr>
              <a:t>driver="Mia", route="North"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6437376"/>
            <a:ext cx="1110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06070"/>
                </a:solidFill>
              </a:rPr>
              <a:t>Project use: *args adds route stops. **kwargs stores optional vehicle details.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[OOP] Classes and objects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A class is a blueprint. An object is one real item made from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79476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Vehicle: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pass</a:t>
            </a:r>
            <a:endParaRPr lang="en-US" sz="1580" dirty="0"/>
          </a:p>
          <a:p>
            <a:pPr marL="0" indent="0">
              <a:buNone/>
            </a:pP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van = Vehicle()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truck = Vehicle()</a:t>
            </a:r>
            <a:endParaRPr lang="en-US" sz="1580" dirty="0"/>
          </a:p>
          <a:p>
            <a:pPr marL="0" indent="0">
              <a:buNone/>
            </a:pP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print(type(van))</a:t>
            </a:r>
            <a:endParaRPr lang="en-US" sz="1580" dirty="0"/>
          </a:p>
        </p:txBody>
      </p:sp>
      <p:sp>
        <p:nvSpPr>
          <p:cNvPr id="6" name="Text 4"/>
          <p:cNvSpPr/>
          <p:nvPr/>
        </p:nvSpPr>
        <p:spPr>
          <a:xfrm>
            <a:off x="4892040" y="1417320"/>
            <a:ext cx="2377440" cy="128016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64C8"/>
                </a:solidFill>
              </a:rPr>
              <a:t>CLASS BLUEPRINT
Vehicle
</a:t>
            </a:r>
            <a:r>
              <a:rPr lang="en-US" sz="2000" dirty="0">
                <a:solidFill>
                  <a:srgbClr val="506070"/>
                </a:solidFill>
              </a:rPr>
              <a:t>has attributes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06070"/>
                </a:solidFill>
              </a:rPr>
              <a:t>and methods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60920" y="2057400"/>
            <a:ext cx="960120" cy="0"/>
          </a:xfrm>
          <a:prstGeom prst="line">
            <a:avLst/>
          </a:prstGeom>
          <a:noFill/>
          <a:ln w="25400">
            <a:solidFill>
              <a:srgbClr val="1E64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58200" y="1417320"/>
            <a:ext cx="2743200" cy="128016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</a:rPr>
              <a:t>OBJECTS MADE FROM CLASS
</a:t>
            </a:r>
            <a:r>
              <a:rPr lang="en-US" sz="1900" dirty="0">
                <a:solidFill>
                  <a:srgbClr val="506070"/>
                </a:solidFill>
              </a:rPr>
              <a:t>🚐 van: VAN-204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506070"/>
                </a:solidFill>
              </a:rPr>
              <a:t>🚚 truck: TRK-091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1516" y="3749041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📐 Class
</a:t>
            </a:r>
            <a:r>
              <a:rPr lang="en-US" sz="1750" dirty="0">
                <a:solidFill>
                  <a:srgbClr val="506070"/>
                </a:solidFill>
              </a:rPr>
              <a:t>Blueprint: defines what a vehicle should have and do.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3316" y="3749041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🚐 Object
</a:t>
            </a:r>
            <a:r>
              <a:rPr lang="en-US" sz="1750" dirty="0">
                <a:solidFill>
                  <a:srgbClr val="506070"/>
                </a:solidFill>
              </a:rPr>
              <a:t>Real instance: van and truck are different vehicles.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80254" y="4678431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🔁 Use when
</a:t>
            </a:r>
            <a:r>
              <a:rPr lang="en-US" sz="1750" dirty="0">
                <a:solidFill>
                  <a:srgbClr val="506070"/>
                </a:solidFill>
              </a:rPr>
              <a:t>The program has repeated real-world things.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652054" y="4678431"/>
            <a:ext cx="1828800" cy="822960"/>
          </a:xfrm>
          <a:prstGeom prst="rect">
            <a:avLst/>
          </a:prstGeom>
          <a:solidFill>
            <a:srgbClr val="FFF6D6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59E0B"/>
                </a:solidFill>
              </a:rPr>
              <a:t>Workshop fit
</a:t>
            </a:r>
            <a:r>
              <a:rPr lang="en-US" sz="1750" dirty="0">
                <a:solidFill>
                  <a:srgbClr val="506070"/>
                </a:solidFill>
              </a:rPr>
              <a:t>Fleet has repeated vehicle records.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AAA18D-A624-9196-7037-A2708B8E4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924" y="4984812"/>
            <a:ext cx="1853115" cy="14763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C69AC7-E028-00CC-0168-5CE68B436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401" y="2778233"/>
            <a:ext cx="4043597" cy="2139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Attributes and __init__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Attributes store object information. __init__ runs when the object is created.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61872"/>
            <a:ext cx="5806440" cy="2788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Vehicle: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__init__(self, vehicle_id, tyres, fuel_level):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self.vehicle_id = vehicle_id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self.tyres = tyres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self.fuel_level = fuel_level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van = Vehicle("VAN-204", 4, 72)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print(van.vehicle_id)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print(van.tyres)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812280" y="1325880"/>
            <a:ext cx="4343400" cy="128016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</a:rPr>
              <a:t>van object
</a:t>
            </a:r>
            <a:r>
              <a:rPr lang="en-US" sz="1900" dirty="0">
                <a:solidFill>
                  <a:srgbClr val="506070"/>
                </a:solidFill>
              </a:rPr>
              <a:t>vehicle_id = "VAN-204"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506070"/>
                </a:solidFill>
              </a:rPr>
              <a:t>tyres = 4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506070"/>
                </a:solidFill>
              </a:rPr>
              <a:t>fuel_level = 72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12280" y="2816352"/>
            <a:ext cx="4343400" cy="82296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64C8"/>
                </a:solidFill>
              </a:rPr>
              <a:t>self
</a:t>
            </a:r>
            <a:r>
              <a:rPr lang="en-US" sz="1800" dirty="0">
                <a:solidFill>
                  <a:srgbClr val="506070"/>
                </a:solidFill>
              </a:rPr>
              <a:t>Means this specific object. van and truck can have different values.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⚡ __init__
</a:t>
            </a:r>
            <a:r>
              <a:rPr lang="en-US" sz="1750" dirty="0">
                <a:solidFill>
                  <a:srgbClr val="506070"/>
                </a:solidFill>
              </a:rPr>
              <a:t>Runs </a:t>
            </a:r>
            <a:r>
              <a:rPr lang="en-US" sz="1750" b="1" dirty="0">
                <a:solidFill>
                  <a:srgbClr val="FF0000"/>
                </a:solidFill>
              </a:rPr>
              <a:t>automatically</a:t>
            </a:r>
            <a:r>
              <a:rPr lang="en-US" sz="1750" dirty="0">
                <a:solidFill>
                  <a:srgbClr val="506070"/>
                </a:solidFill>
              </a:rPr>
              <a:t> when a new object is created.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297680" y="461772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🏷️ Attribute
</a:t>
            </a:r>
            <a:r>
              <a:rPr lang="en-US" sz="1750" dirty="0">
                <a:solidFill>
                  <a:srgbClr val="506070"/>
                </a:solidFill>
              </a:rPr>
              <a:t>A named piece of data stored inside the object.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772400" y="4617720"/>
            <a:ext cx="3291840" cy="731520"/>
          </a:xfrm>
          <a:prstGeom prst="rect">
            <a:avLst/>
          </a:prstGeom>
          <a:solidFill>
            <a:srgbClr val="FFF6D6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59E0B"/>
                </a:solidFill>
              </a:rPr>
              <a:t>Beginner image
</a:t>
            </a:r>
            <a:r>
              <a:rPr lang="en-US" sz="1750" dirty="0">
                <a:solidFill>
                  <a:srgbClr val="506070"/>
                </a:solidFill>
              </a:rPr>
              <a:t>Class creates objects. Objects keep their own information.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</a:t>
            </a:r>
            <a:r>
              <a:rPr lang="en-US" sz="3200" b="1" dirty="0">
                <a:solidFill>
                  <a:srgbClr val="102033"/>
                </a:solidFill>
              </a:rPr>
              <a:t>Variable scope</a:t>
            </a: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] Variable scope: debug it with print()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Scope answers: where can this variable be used, and when is it created?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59" y="1207008"/>
            <a:ext cx="5945099" cy="3653553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DEPOT_NAME = "CDU Casuarina Depot"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print("GLOBAL:", DEPOT_NAME)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Vehicle: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fleet_type = "training fleet"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__init__(self, vehicle_id):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self.vehicle_id = vehicle_id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print("INIT object:", self.vehicle_id)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label(self):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status = "ready"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print("METHOD local:", status)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print("METHOD global:", DEPOT_NAME)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print("METHOD class:", Vehicle.fleet_type)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print("METHOD instance:", self.vehicle_id)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 f"{self.vehicle_id} is {status}"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720840" y="1234440"/>
            <a:ext cx="4480560" cy="77724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64C8"/>
                </a:solidFill>
              </a:rPr>
              <a:t>Scope map
</a:t>
            </a:r>
            <a:r>
              <a:rPr lang="en-US" sz="1800" dirty="0">
                <a:solidFill>
                  <a:srgbClr val="506070"/>
                </a:solidFill>
              </a:rPr>
              <a:t>🌍 global  →  🏢 class  →  🚐 instance  →  ⚙️ method/local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20840" y="2148840"/>
            <a:ext cx="4480560" cy="1920240"/>
          </a:xfrm>
          <a:prstGeom prst="rect">
            <a:avLst/>
          </a:prstGeom>
          <a:solidFill>
            <a:srgbClr val="F1F5F9"/>
          </a:solidFill>
          <a:ln>
            <a:solidFill>
              <a:srgbClr val="D4DE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Expected debug output: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GLOBAL: CDU Casuarina Depot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INIT object: VAN-204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METHOD local: ready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METHOD global: CDU Casuarina Depot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METHOD class: training fleet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METHOD instance: VAN-204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VAN-204 is ready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67181" y="525780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02033"/>
                </a:solidFill>
              </a:rPr>
              <a:t>🌍 Global
</a:t>
            </a:r>
            <a:r>
              <a:rPr lang="en-US" sz="1360" dirty="0">
                <a:solidFill>
                  <a:srgbClr val="506070"/>
                </a:solidFill>
              </a:rPr>
              <a:t>Outside functions/classes; available widely, but do not overuse.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3153181" y="525780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02033"/>
                </a:solidFill>
              </a:rPr>
              <a:t>📍 Local
</a:t>
            </a:r>
            <a:r>
              <a:rPr lang="en-US" sz="1360" dirty="0">
                <a:solidFill>
                  <a:srgbClr val="506070"/>
                </a:solidFill>
              </a:rPr>
              <a:t>Inside a function/method; usually disappears after it finishes.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867181" y="603504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02033"/>
                </a:solidFill>
              </a:rPr>
              <a:t>🏢 Class variable
</a:t>
            </a:r>
            <a:r>
              <a:rPr lang="en-US" sz="1360" dirty="0">
                <a:solidFill>
                  <a:srgbClr val="506070"/>
                </a:solidFill>
              </a:rPr>
              <a:t>Shared by all objects from the same class.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3153181" y="603504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02033"/>
                </a:solidFill>
              </a:rPr>
              <a:t>🚐 Instance attribute
</a:t>
            </a:r>
            <a:r>
              <a:rPr lang="en-US" sz="1360" dirty="0">
                <a:solidFill>
                  <a:srgbClr val="506070"/>
                </a:solidFill>
              </a:rPr>
              <a:t>Belongs to one object: van can differ from truck.</a:t>
            </a:r>
            <a:endParaRPr lang="en-US" sz="136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AA47C5-AAE0-5A14-6758-48BF46D76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4206240"/>
            <a:ext cx="2373693" cy="23736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Methods: functions inside objects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Methods add behaviour to an object. Data + behaviour = useful model.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85216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Vehicle: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__init__(self, vehicle_id, fuel_level):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self.vehicle_id = vehicle_id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self.fuel_level = fuel_level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self.engine_on = False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start_engine(self):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self.engine_on = True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drive(self, km):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self.fuel_level -= km * 0.08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 f"{self.vehicle_id} drove {km} km"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van = Vehicle("VAN-204", 72)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van.start_engine()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print(van.drive(18))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03720" y="1325880"/>
            <a:ext cx="4023360" cy="91440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</a:rPr>
              <a:t>Object = data + actions
</a:t>
            </a:r>
            <a:r>
              <a:rPr lang="en-US" sz="2100" dirty="0">
                <a:solidFill>
                  <a:srgbClr val="506070"/>
                </a:solidFill>
              </a:rPr>
              <a:t>🚐 van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506070"/>
                </a:solidFill>
              </a:rPr>
              <a:t>fuel_level = 72 → 70.56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903720" y="251460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🏷️ Attribute
</a:t>
            </a:r>
            <a:r>
              <a:rPr lang="en-US" sz="1750" dirty="0">
                <a:solidFill>
                  <a:srgbClr val="506070"/>
                </a:solidFill>
              </a:rPr>
              <a:t>What the vehicle knows: ID, fuel level and engine state.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903720" y="345643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02033"/>
                </a:solidFill>
              </a:rPr>
              <a:t>⚙️ Method
</a:t>
            </a:r>
            <a:r>
              <a:rPr lang="en-US" sz="1750" dirty="0">
                <a:solidFill>
                  <a:srgbClr val="506070"/>
                </a:solidFill>
              </a:rPr>
              <a:t>What the vehicle can do: start engine, drive, update fuel.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903720" y="4407408"/>
            <a:ext cx="4023360" cy="77724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E64C8"/>
                </a:solidFill>
              </a:rPr>
              <a:t>🧩 Story connection
</a:t>
            </a:r>
            <a:r>
              <a:rPr lang="en-US" sz="1750" dirty="0">
                <a:solidFill>
                  <a:srgbClr val="506070"/>
                </a:solidFill>
              </a:rPr>
              <a:t>A trip changes vehicle state, so a method is better than a loose function.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02920" y="6437376"/>
            <a:ext cx="1110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06070"/>
                </a:solidFill>
              </a:rPr>
              <a:t>Mental model: Object = information + actions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Single inheritance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A child class reuses parent code and adds something specific.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57150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Vehicle: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__init__(self, vehicle_id, tyres):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self.vehicle_id = vehicle_id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self.tyres = tyres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basic_status(self):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 f"{self.vehicle_id}: {self.tyres} tyres"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DeliveryVan(Vehicle):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__init__(self, vehicle_id, tyres, cargo_capacity):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super().__init__(vehicle_id, tyres)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self.cargo_capacity = cargo_capacity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load_cargo(self, kg):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 kg &lt;= self.cargo_capacity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629400" y="1417320"/>
            <a:ext cx="2194560" cy="91440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E64C8"/>
                </a:solidFill>
              </a:rPr>
              <a:t>Vehicle
</a:t>
            </a:r>
            <a:r>
              <a:rPr lang="en-US" sz="1900" dirty="0">
                <a:solidFill>
                  <a:srgbClr val="506070"/>
                </a:solidFill>
              </a:rPr>
              <a:t>common data +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506070"/>
                </a:solidFill>
              </a:rPr>
              <a:t>basic_status()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915400" y="1874520"/>
            <a:ext cx="914400" cy="0"/>
          </a:xfrm>
          <a:prstGeom prst="line">
            <a:avLst/>
          </a:prstGeom>
          <a:noFill/>
          <a:ln w="25400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21240" y="1417320"/>
            <a:ext cx="1737360" cy="91440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766E"/>
                </a:solidFill>
              </a:rPr>
              <a:t>DeliveryVan
</a:t>
            </a:r>
            <a:r>
              <a:rPr lang="en-US" sz="1750" dirty="0">
                <a:solidFill>
                  <a:srgbClr val="506070"/>
                </a:solidFill>
              </a:rPr>
              <a:t>adds cargo_capacity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506070"/>
                </a:solidFill>
              </a:rPr>
              <a:t>and load_cargo()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629400" y="2743200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👪 Parent class
</a:t>
            </a:r>
            <a:r>
              <a:rPr lang="en-US" sz="1700" dirty="0">
                <a:solidFill>
                  <a:srgbClr val="506070"/>
                </a:solidFill>
              </a:rPr>
              <a:t>Vehicle keeps common vehicle attributes and status logic.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29400" y="3566160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🧒 Child class
</a:t>
            </a:r>
            <a:r>
              <a:rPr lang="en-US" sz="1700" dirty="0">
                <a:solidFill>
                  <a:srgbClr val="506070"/>
                </a:solidFill>
              </a:rPr>
              <a:t>DeliveryVan adds cargo capacity and loading behaviour.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4389120"/>
            <a:ext cx="4663440" cy="685800"/>
          </a:xfrm>
          <a:prstGeom prst="rect">
            <a:avLst/>
          </a:prstGeom>
          <a:solidFill>
            <a:srgbClr val="FFF6D6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</a:rPr>
              <a:t>↩️ super()
</a:t>
            </a:r>
            <a:r>
              <a:rPr lang="en-US" sz="1700" dirty="0">
                <a:solidFill>
                  <a:srgbClr val="506070"/>
                </a:solidFill>
              </a:rPr>
              <a:t>Calls the parent version instead of rewriting everything.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437376"/>
            <a:ext cx="1110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06070"/>
                </a:solidFill>
              </a:rPr>
              <a:t>80/20: single inheritance is useful. Complex inheritance can wait.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Brief: multiple inheritance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One class can inherit from more than one parent. Keep it simple and careful.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62356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Vehicle: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basic_status(self):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print("Vehicle is active")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ServiceToolMixin: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def inspect_tyres(self):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print("Checking tyre pressure")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ServiceVan(Vehicle, ServiceToolMixin):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pass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van = ServiceVan()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van.basic_status()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van.inspect_tyres()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20840" y="1481328"/>
            <a:ext cx="1737360" cy="73152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64C8"/>
                </a:solidFill>
              </a:rPr>
              <a:t>Vehicle
</a:t>
            </a:r>
            <a:r>
              <a:rPr lang="en-US" sz="1800" dirty="0">
                <a:solidFill>
                  <a:srgbClr val="506070"/>
                </a:solidFill>
              </a:rPr>
              <a:t>basic_status()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0" y="1481328"/>
            <a:ext cx="2057400" cy="73152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</a:rPr>
              <a:t>ServiceToolMixin
</a:t>
            </a:r>
            <a:r>
              <a:rPr lang="en-US" sz="1700" dirty="0">
                <a:solidFill>
                  <a:srgbClr val="506070"/>
                </a:solidFill>
              </a:rPr>
              <a:t>inspect_tyres()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589520" y="2240280"/>
            <a:ext cx="1005840" cy="594360"/>
          </a:xfrm>
          <a:prstGeom prst="line">
            <a:avLst/>
          </a:prstGeom>
          <a:noFill/>
          <a:ln w="25400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9057807" y="2240280"/>
            <a:ext cx="1137753" cy="59436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01000" y="2971800"/>
            <a:ext cx="1920240" cy="731520"/>
          </a:xfrm>
          <a:prstGeom prst="rect">
            <a:avLst/>
          </a:prstGeom>
          <a:solidFill>
            <a:srgbClr val="FFF6D6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ServiceVan
</a:t>
            </a:r>
            <a:r>
              <a:rPr lang="en-US" sz="1800" dirty="0">
                <a:solidFill>
                  <a:srgbClr val="506070"/>
                </a:solidFill>
              </a:rPr>
              <a:t>inherits from both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4005072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👀 Why show it briefly?
</a:t>
            </a:r>
            <a:r>
              <a:rPr lang="en-US" sz="1700" dirty="0">
                <a:solidFill>
                  <a:srgbClr val="506070"/>
                </a:solidFill>
              </a:rPr>
              <a:t>Students may see this syntax in real code or tutorials.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20840" y="48006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✅ Beginner rule
</a:t>
            </a:r>
            <a:r>
              <a:rPr lang="en-US" sz="1700" dirty="0">
                <a:solidFill>
                  <a:srgbClr val="506070"/>
                </a:solidFill>
              </a:rPr>
              <a:t>Use single inheritance first. Use multiple inheritance only when the design is clean.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project: fleet readiness report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Build a small program that combines the main topics.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2606040" cy="713232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1E64C8"/>
                </a:solidFill>
              </a:rPr>
              <a:t>1  Validate
</a:t>
            </a:r>
            <a:r>
              <a:rPr lang="en-US" sz="1680" dirty="0">
                <a:solidFill>
                  <a:srgbClr val="506070"/>
                </a:solidFill>
              </a:rPr>
              <a:t>Use try/except to clean km, fuel and tyre input.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3520440" y="1325880"/>
            <a:ext cx="2606040" cy="713232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F766E"/>
                </a:solidFill>
              </a:rPr>
              <a:t>2  Model
</a:t>
            </a:r>
            <a:r>
              <a:rPr lang="en-US" sz="1680" dirty="0">
                <a:solidFill>
                  <a:srgbClr val="506070"/>
                </a:solidFill>
              </a:rPr>
              <a:t>Create vehicle objects from classes.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655320" y="2507698"/>
            <a:ext cx="2606040" cy="1063638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1E64C8"/>
                </a:solidFill>
              </a:rPr>
              <a:t>3  Specialise
</a:t>
            </a:r>
            <a:r>
              <a:rPr lang="en-US" sz="1680" dirty="0">
                <a:solidFill>
                  <a:srgbClr val="506070"/>
                </a:solidFill>
              </a:rPr>
              <a:t>Use child classes for DeliveryVan and ServiceTruck.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3489960" y="2507698"/>
            <a:ext cx="2606040" cy="713232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F766E"/>
                </a:solidFill>
              </a:rPr>
              <a:t>4  Report
</a:t>
            </a:r>
            <a:r>
              <a:rPr lang="en-US" sz="1680" dirty="0">
                <a:solidFill>
                  <a:srgbClr val="506070"/>
                </a:solidFill>
              </a:rPr>
              <a:t>Loop through vehicles and print readiness report.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5074920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B122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vehicles = [van, truck]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total_km = 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vehicle in vehicles: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print(vehicle.status())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total_km += vehicle.current_km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vehicle.needs_service():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print("Service required:", vehicle.vehicle_id)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print("Fleet mileage:", total_km)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69080"/>
            <a:ext cx="4572000" cy="868680"/>
          </a:xfrm>
          <a:prstGeom prst="rect">
            <a:avLst/>
          </a:prstGeom>
          <a:solidFill>
            <a:srgbClr val="FFF6D6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Project story
</a:t>
            </a:r>
            <a:r>
              <a:rPr lang="en-US" sz="2000" dirty="0">
                <a:solidFill>
                  <a:srgbClr val="506070"/>
                </a:solidFill>
              </a:rPr>
              <a:t>Turn messy vehicle data into a simple, useful operational report.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72200" y="438912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What students practise
</a:t>
            </a:r>
            <a:r>
              <a:rPr lang="en-US" sz="1800" dirty="0">
                <a:solidFill>
                  <a:srgbClr val="506070"/>
                </a:solidFill>
              </a:rPr>
              <a:t>try/except → modules → classes → methods → inheritance → loop report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file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The same course story appears in the slides, notebook and Python script.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3337560" cy="1280160"/>
          </a:xfrm>
          <a:prstGeom prst="rect">
            <a:avLst/>
          </a:prstGeom>
          <a:solidFill>
            <a:srgbClr val="E8F2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64C8"/>
                </a:solidFill>
              </a:rPr>
              <a:t>🖥️ PowerPoint
</a:t>
            </a:r>
            <a:r>
              <a:rPr lang="en-US" sz="2000" dirty="0">
                <a:solidFill>
                  <a:srgbClr val="506070"/>
                </a:solidFill>
              </a:rPr>
              <a:t>Concept, mental model and tiny examples for explanation.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34840" y="1508760"/>
            <a:ext cx="3337560" cy="1280160"/>
          </a:xfrm>
          <a:prstGeom prst="rect">
            <a:avLst/>
          </a:prstGeom>
          <a:solidFill>
            <a:srgbClr val="E8F7F1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📓 Jupyter Notebook
</a:t>
            </a:r>
            <a:r>
              <a:rPr lang="en-US" sz="2000" dirty="0">
                <a:solidFill>
                  <a:srgbClr val="506070"/>
                </a:solidFill>
              </a:rPr>
              <a:t>Run note cell → code cell → observe output → modify values.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92440" y="1508760"/>
            <a:ext cx="3337560" cy="1280160"/>
          </a:xfrm>
          <a:prstGeom prst="rect">
            <a:avLst/>
          </a:prstGeom>
          <a:solidFill>
            <a:srgbClr val="FFF6D6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🐍 Python script
</a:t>
            </a:r>
            <a:r>
              <a:rPr lang="en-US" sz="2000" dirty="0">
                <a:solidFill>
                  <a:srgbClr val="506070"/>
                </a:solidFill>
              </a:rPr>
              <a:t>Run as a program in VS Code to show how a .py file works.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3520440"/>
            <a:ext cx="8412480" cy="914400"/>
          </a:xfrm>
          <a:prstGeom prst="rect">
            <a:avLst/>
          </a:prstGeom>
          <a:solidFill>
            <a:srgbClr val="F1F5F9"/>
          </a:solidFill>
          <a:ln>
            <a:solidFill>
              <a:srgbClr val="D4DE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 python_workshop_2_fleet.py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python_workshop_2_fleet.py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python3 python_workshop_2_fleet.py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</a:rPr>
              <a:t>Demo flow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0" y="5120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4C8"/>
                </a:solidFill>
              </a:rPr>
              <a:t>Explain on slide  →  run notebook cell  →  show matching code in the .py script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6437376"/>
            <a:ext cx="1110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06070"/>
                </a:solidFill>
              </a:rPr>
              <a:t>Smart teaching rhythm: concept first, tiny code second, practical change third.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2 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0"/>
                </a:solidFill>
              </a:rPr>
              <a:t>What students should remember after three hours.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try/except
</a:t>
            </a:r>
            <a:r>
              <a:rPr lang="en-US" sz="1800" dirty="0">
                <a:solidFill>
                  <a:srgbClr val="506070"/>
                </a:solidFill>
              </a:rPr>
              <a:t>Handle input and file problems safely.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0" y="132588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Modules
</a:t>
            </a:r>
            <a:r>
              <a:rPr lang="en-US" sz="1800" dirty="0">
                <a:solidFill>
                  <a:srgbClr val="506070"/>
                </a:solidFill>
              </a:rPr>
              <a:t>Split reusable helper code into files.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Classes
</a:t>
            </a:r>
            <a:r>
              <a:rPr lang="en-US" sz="1800" dirty="0">
                <a:solidFill>
                  <a:srgbClr val="506070"/>
                </a:solidFill>
              </a:rPr>
              <a:t>Create blueprints for real-world things.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0" y="228600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Objects
</a:t>
            </a:r>
            <a:r>
              <a:rPr lang="en-US" sz="1800" dirty="0">
                <a:solidFill>
                  <a:srgbClr val="506070"/>
                </a:solidFill>
              </a:rPr>
              <a:t>Create specific vehicles from a class.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Methods
</a:t>
            </a:r>
            <a:r>
              <a:rPr lang="en-US" sz="1800" dirty="0">
                <a:solidFill>
                  <a:srgbClr val="506070"/>
                </a:solidFill>
              </a:rPr>
              <a:t>Put useful actions inside objects.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324612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Inheritance
</a:t>
            </a:r>
            <a:r>
              <a:rPr lang="en-US" sz="1800" dirty="0">
                <a:solidFill>
                  <a:srgbClr val="506070"/>
                </a:solidFill>
              </a:rPr>
              <a:t>Reuse common code and specialise child classes.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5166360" cy="713232"/>
          </a:xfrm>
          <a:prstGeom prst="rect">
            <a:avLst/>
          </a:prstGeom>
          <a:solidFill>
            <a:srgbClr val="FFF6D6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*args / **kwargs
</a:t>
            </a:r>
            <a:r>
              <a:rPr lang="en-US" sz="1800" dirty="0">
                <a:solidFill>
                  <a:srgbClr val="506070"/>
                </a:solidFill>
              </a:rPr>
              <a:t>Recognise flexible function inputs.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4206240"/>
            <a:ext cx="5166360" cy="713232"/>
          </a:xfrm>
          <a:prstGeom prst="rect">
            <a:avLst/>
          </a:prstGeom>
          <a:solidFill>
            <a:srgbClr val="FFF6D6"/>
          </a:solidFill>
          <a:ln w="12700">
            <a:solidFill>
              <a:srgbClr val="DDE5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Multiple inheritance
</a:t>
            </a:r>
            <a:r>
              <a:rPr lang="en-US" sz="1800" dirty="0">
                <a:solidFill>
                  <a:srgbClr val="506070"/>
                </a:solidFill>
              </a:rPr>
              <a:t>Know the idea; use carefully later.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610819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06070"/>
                </a:solidFill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2622</Words>
  <Application>Microsoft Office PowerPoint</Application>
  <PresentationFormat>Widescreen</PresentationFormat>
  <Paragraphs>344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 Display</vt:lpstr>
      <vt:lpstr>Arial</vt:lpstr>
      <vt:lpstr>Cascadia Mono</vt:lpstr>
      <vt:lpstr>Dreaming Outloud Script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Work 2 - Practical Intermediate Python</dc:title>
  <dc:subject>Python for Work 2 - Practical Intermediate Python</dc:subject>
  <dc:creator>OpenAI</dc:creator>
  <cp:lastModifiedBy>Dang Khoa Pham</cp:lastModifiedBy>
  <cp:revision>2</cp:revision>
  <dcterms:created xsi:type="dcterms:W3CDTF">2026-07-25T15:23:57Z</dcterms:created>
  <dcterms:modified xsi:type="dcterms:W3CDTF">2026-07-28T13:12:38Z</dcterms:modified>
</cp:coreProperties>
</file>