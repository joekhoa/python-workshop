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F796D6-BA51-46C4-85A0-21C3E8FFDC83}" v="1" dt="2026-07-26T01:14:59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27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g Khoa Pham" userId="a0828928-506b-41e7-91fe-334565ca4eb5" providerId="ADAL" clId="{07F4103E-4D85-4DDD-92DF-5DC143FDFFF6}"/>
    <pc:docChg chg="undo custSel modSld modShowInfo">
      <pc:chgData name="Dang Khoa Pham" userId="a0828928-506b-41e7-91fe-334565ca4eb5" providerId="ADAL" clId="{07F4103E-4D85-4DDD-92DF-5DC143FDFFF6}" dt="2026-07-26T01:34:14.529" v="219" actId="2744"/>
      <pc:docMkLst>
        <pc:docMk/>
      </pc:docMkLst>
      <pc:sldChg chg="addSp modSp mod">
        <pc:chgData name="Dang Khoa Pham" userId="a0828928-506b-41e7-91fe-334565ca4eb5" providerId="ADAL" clId="{07F4103E-4D85-4DDD-92DF-5DC143FDFFF6}" dt="2026-07-26T01:20:50.485" v="218" actId="20577"/>
        <pc:sldMkLst>
          <pc:docMk/>
          <pc:sldMk cId="0" sldId="256"/>
        </pc:sldMkLst>
        <pc:spChg chg="mod">
          <ac:chgData name="Dang Khoa Pham" userId="a0828928-506b-41e7-91fe-334565ca4eb5" providerId="ADAL" clId="{07F4103E-4D85-4DDD-92DF-5DC143FDFFF6}" dt="2026-07-26T01:15:37.298" v="81" actId="14100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Dang Khoa Pham" userId="a0828928-506b-41e7-91fe-334565ca4eb5" providerId="ADAL" clId="{07F4103E-4D85-4DDD-92DF-5DC143FDFFF6}" dt="2026-07-26T01:20:50.485" v="218" actId="20577"/>
          <ac:spMkLst>
            <pc:docMk/>
            <pc:sldMk cId="0" sldId="256"/>
            <ac:spMk id="46" creationId="{7C7CDE32-4439-98CD-C106-B05A724ECD83}"/>
          </ac:spMkLst>
        </pc:spChg>
        <pc:picChg chg="add mod">
          <ac:chgData name="Dang Khoa Pham" userId="a0828928-506b-41e7-91fe-334565ca4eb5" providerId="ADAL" clId="{07F4103E-4D85-4DDD-92DF-5DC143FDFFF6}" dt="2026-07-26T01:15:07.300" v="79" actId="1076"/>
          <ac:picMkLst>
            <pc:docMk/>
            <pc:sldMk cId="0" sldId="256"/>
            <ac:picMk id="45" creationId="{9FBBAC53-E0EE-AF99-B3FE-D013C7955420}"/>
          </ac:picMkLst>
        </pc:picChg>
      </pc:sldChg>
      <pc:sldChg chg="modSp mod">
        <pc:chgData name="Dang Khoa Pham" userId="a0828928-506b-41e7-91fe-334565ca4eb5" providerId="ADAL" clId="{07F4103E-4D85-4DDD-92DF-5DC143FDFFF6}" dt="2026-07-25T14:14:25.330" v="20" actId="20577"/>
        <pc:sldMkLst>
          <pc:docMk/>
          <pc:sldMk cId="0" sldId="259"/>
        </pc:sldMkLst>
        <pc:spChg chg="mod">
          <ac:chgData name="Dang Khoa Pham" userId="a0828928-506b-41e7-91fe-334565ca4eb5" providerId="ADAL" clId="{07F4103E-4D85-4DDD-92DF-5DC143FDFFF6}" dt="2026-07-25T14:14:25.330" v="20" actId="20577"/>
          <ac:spMkLst>
            <pc:docMk/>
            <pc:sldMk cId="0" sldId="259"/>
            <ac:spMk id="21" creationId="{00000000-0000-0000-0000-000000000000}"/>
          </ac:spMkLst>
        </pc:spChg>
      </pc:sldChg>
      <pc:sldChg chg="addSp modSp mod">
        <pc:chgData name="Dang Khoa Pham" userId="a0828928-506b-41e7-91fe-334565ca4eb5" providerId="ADAL" clId="{07F4103E-4D85-4DDD-92DF-5DC143FDFFF6}" dt="2026-07-26T01:19:54.779" v="214" actId="1076"/>
        <pc:sldMkLst>
          <pc:docMk/>
          <pc:sldMk cId="0" sldId="262"/>
        </pc:sldMkLst>
        <pc:spChg chg="mod">
          <ac:chgData name="Dang Khoa Pham" userId="a0828928-506b-41e7-91fe-334565ca4eb5" providerId="ADAL" clId="{07F4103E-4D85-4DDD-92DF-5DC143FDFFF6}" dt="2026-07-24T13:21:53.437" v="3"/>
          <ac:spMkLst>
            <pc:docMk/>
            <pc:sldMk cId="0" sldId="262"/>
            <ac:spMk id="7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7:13.507" v="82" actId="1410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7:18.618" v="84" actId="1076"/>
          <ac:spMkLst>
            <pc:docMk/>
            <pc:sldMk cId="0" sldId="262"/>
            <ac:spMk id="14" creationId="{00000000-0000-0000-0000-000000000000}"/>
          </ac:spMkLst>
        </pc:spChg>
        <pc:spChg chg="add mod">
          <ac:chgData name="Dang Khoa Pham" userId="a0828928-506b-41e7-91fe-334565ca4eb5" providerId="ADAL" clId="{07F4103E-4D85-4DDD-92DF-5DC143FDFFF6}" dt="2026-07-26T01:19:54.779" v="214" actId="1076"/>
          <ac:spMkLst>
            <pc:docMk/>
            <pc:sldMk cId="0" sldId="262"/>
            <ac:spMk id="29" creationId="{BC84F7F1-9F9D-66AB-A11F-9ADF9023D9B7}"/>
          </ac:spMkLst>
        </pc:spChg>
      </pc:sldChg>
      <pc:sldChg chg="modSp mod">
        <pc:chgData name="Dang Khoa Pham" userId="a0828928-506b-41e7-91fe-334565ca4eb5" providerId="ADAL" clId="{07F4103E-4D85-4DDD-92DF-5DC143FDFFF6}" dt="2026-07-26T01:14:59.719" v="24" actId="27636"/>
        <pc:sldMkLst>
          <pc:docMk/>
          <pc:sldMk cId="0" sldId="266"/>
        </pc:sldMkLst>
        <pc:spChg chg="mod">
          <ac:chgData name="Dang Khoa Pham" userId="a0828928-506b-41e7-91fe-334565ca4eb5" providerId="ADAL" clId="{07F4103E-4D85-4DDD-92DF-5DC143FDFFF6}" dt="2026-07-26T01:14:59.719" v="22" actId="276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719" v="23" actId="2763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719" v="24" actId="27636"/>
          <ac:spMkLst>
            <pc:docMk/>
            <pc:sldMk cId="0" sldId="266"/>
            <ac:spMk id="15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14:59.748" v="27" actId="27636"/>
        <pc:sldMkLst>
          <pc:docMk/>
          <pc:sldMk cId="0" sldId="268"/>
        </pc:sldMkLst>
        <pc:spChg chg="mod">
          <ac:chgData name="Dang Khoa Pham" userId="a0828928-506b-41e7-91fe-334565ca4eb5" providerId="ADAL" clId="{07F4103E-4D85-4DDD-92DF-5DC143FDFFF6}" dt="2026-07-26T01:14:59.748" v="27" actId="27636"/>
          <ac:spMkLst>
            <pc:docMk/>
            <pc:sldMk cId="0" sldId="268"/>
            <ac:spMk id="8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744" v="26" actId="2763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737" v="25" actId="27636"/>
          <ac:spMkLst>
            <pc:docMk/>
            <pc:sldMk cId="0" sldId="268"/>
            <ac:spMk id="14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14:59.766" v="32" actId="27636"/>
        <pc:sldMkLst>
          <pc:docMk/>
          <pc:sldMk cId="0" sldId="270"/>
        </pc:sldMkLst>
        <pc:spChg chg="mod">
          <ac:chgData name="Dang Khoa Pham" userId="a0828928-506b-41e7-91fe-334565ca4eb5" providerId="ADAL" clId="{07F4103E-4D85-4DDD-92DF-5DC143FDFFF6}" dt="2026-07-26T01:14:59.764" v="29" actId="27636"/>
          <ac:spMkLst>
            <pc:docMk/>
            <pc:sldMk cId="0" sldId="270"/>
            <ac:spMk id="8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766" v="31" actId="27636"/>
          <ac:spMkLst>
            <pc:docMk/>
            <pc:sldMk cId="0" sldId="270"/>
            <ac:spMk id="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759" v="28" actId="2763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766" v="30" actId="2763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766" v="32" actId="27636"/>
          <ac:spMkLst>
            <pc:docMk/>
            <pc:sldMk cId="0" sldId="270"/>
            <ac:spMk id="15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14:59.785" v="35" actId="27636"/>
        <pc:sldMkLst>
          <pc:docMk/>
          <pc:sldMk cId="0" sldId="271"/>
        </pc:sldMkLst>
        <pc:spChg chg="mod">
          <ac:chgData name="Dang Khoa Pham" userId="a0828928-506b-41e7-91fe-334565ca4eb5" providerId="ADAL" clId="{07F4103E-4D85-4DDD-92DF-5DC143FDFFF6}" dt="2026-07-26T01:14:59.785" v="35" actId="27636"/>
          <ac:spMkLst>
            <pc:docMk/>
            <pc:sldMk cId="0" sldId="271"/>
            <ac:spMk id="8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785" v="33" actId="2763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785" v="34" actId="27636"/>
          <ac:spMkLst>
            <pc:docMk/>
            <pc:sldMk cId="0" sldId="271"/>
            <ac:spMk id="14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14:59.816" v="37" actId="27636"/>
        <pc:sldMkLst>
          <pc:docMk/>
          <pc:sldMk cId="0" sldId="272"/>
        </pc:sldMkLst>
        <pc:spChg chg="mod">
          <ac:chgData name="Dang Khoa Pham" userId="a0828928-506b-41e7-91fe-334565ca4eb5" providerId="ADAL" clId="{07F4103E-4D85-4DDD-92DF-5DC143FDFFF6}" dt="2026-07-26T01:14:59.816" v="37" actId="27636"/>
          <ac:spMkLst>
            <pc:docMk/>
            <pc:sldMk cId="0" sldId="272"/>
            <ac:spMk id="25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801" v="36" actId="27636"/>
          <ac:spMkLst>
            <pc:docMk/>
            <pc:sldMk cId="0" sldId="272"/>
            <ac:spMk id="26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14:59.830" v="40" actId="27636"/>
        <pc:sldMkLst>
          <pc:docMk/>
          <pc:sldMk cId="0" sldId="273"/>
        </pc:sldMkLst>
        <pc:spChg chg="mod">
          <ac:chgData name="Dang Khoa Pham" userId="a0828928-506b-41e7-91fe-334565ca4eb5" providerId="ADAL" clId="{07F4103E-4D85-4DDD-92DF-5DC143FDFFF6}" dt="2026-07-26T01:14:59.820" v="38" actId="27636"/>
          <ac:spMkLst>
            <pc:docMk/>
            <pc:sldMk cId="0" sldId="273"/>
            <ac:spMk id="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830" v="40" actId="2763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820" v="39" actId="27636"/>
          <ac:spMkLst>
            <pc:docMk/>
            <pc:sldMk cId="0" sldId="273"/>
            <ac:spMk id="15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14:59.848" v="44" actId="27636"/>
        <pc:sldMkLst>
          <pc:docMk/>
          <pc:sldMk cId="0" sldId="274"/>
        </pc:sldMkLst>
        <pc:spChg chg="mod">
          <ac:chgData name="Dang Khoa Pham" userId="a0828928-506b-41e7-91fe-334565ca4eb5" providerId="ADAL" clId="{07F4103E-4D85-4DDD-92DF-5DC143FDFFF6}" dt="2026-07-26T01:14:59.830" v="41" actId="27636"/>
          <ac:spMkLst>
            <pc:docMk/>
            <pc:sldMk cId="0" sldId="274"/>
            <ac:spMk id="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848" v="44" actId="2763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848" v="43" actId="27636"/>
          <ac:spMkLst>
            <pc:docMk/>
            <pc:sldMk cId="0" sldId="274"/>
            <ac:spMk id="14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848" v="42" actId="27636"/>
          <ac:spMkLst>
            <pc:docMk/>
            <pc:sldMk cId="0" sldId="274"/>
            <ac:spMk id="15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14:59.878" v="49" actId="27636"/>
        <pc:sldMkLst>
          <pc:docMk/>
          <pc:sldMk cId="0" sldId="275"/>
        </pc:sldMkLst>
        <pc:spChg chg="mod">
          <ac:chgData name="Dang Khoa Pham" userId="a0828928-506b-41e7-91fe-334565ca4eb5" providerId="ADAL" clId="{07F4103E-4D85-4DDD-92DF-5DC143FDFFF6}" dt="2026-07-26T01:14:59.878" v="49" actId="27636"/>
          <ac:spMkLst>
            <pc:docMk/>
            <pc:sldMk cId="0" sldId="275"/>
            <ac:spMk id="8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862" v="45" actId="2763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862" v="47" actId="27636"/>
          <ac:spMkLst>
            <pc:docMk/>
            <pc:sldMk cId="0" sldId="275"/>
            <ac:spMk id="14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862" v="46" actId="27636"/>
          <ac:spMkLst>
            <pc:docMk/>
            <pc:sldMk cId="0" sldId="275"/>
            <ac:spMk id="17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878" v="48" actId="27636"/>
          <ac:spMkLst>
            <pc:docMk/>
            <pc:sldMk cId="0" sldId="275"/>
            <ac:spMk id="18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14:59.909" v="53" actId="27636"/>
        <pc:sldMkLst>
          <pc:docMk/>
          <pc:sldMk cId="0" sldId="276"/>
        </pc:sldMkLst>
        <pc:spChg chg="mod">
          <ac:chgData name="Dang Khoa Pham" userId="a0828928-506b-41e7-91fe-334565ca4eb5" providerId="ADAL" clId="{07F4103E-4D85-4DDD-92DF-5DC143FDFFF6}" dt="2026-07-26T01:14:59.903" v="52" actId="27636"/>
          <ac:spMkLst>
            <pc:docMk/>
            <pc:sldMk cId="0" sldId="276"/>
            <ac:spMk id="12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909" v="53" actId="27636"/>
          <ac:spMkLst>
            <pc:docMk/>
            <pc:sldMk cId="0" sldId="276"/>
            <ac:spMk id="13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895" v="50" actId="27636"/>
          <ac:spMkLst>
            <pc:docMk/>
            <pc:sldMk cId="0" sldId="276"/>
            <ac:spMk id="15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899" v="51" actId="27636"/>
          <ac:spMkLst>
            <pc:docMk/>
            <pc:sldMk cId="0" sldId="276"/>
            <ac:spMk id="16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14:59.925" v="58" actId="27636"/>
        <pc:sldMkLst>
          <pc:docMk/>
          <pc:sldMk cId="0" sldId="277"/>
        </pc:sldMkLst>
        <pc:spChg chg="mod">
          <ac:chgData name="Dang Khoa Pham" userId="a0828928-506b-41e7-91fe-334565ca4eb5" providerId="ADAL" clId="{07F4103E-4D85-4DDD-92DF-5DC143FDFFF6}" dt="2026-07-26T01:14:59.915" v="54" actId="27636"/>
          <ac:spMkLst>
            <pc:docMk/>
            <pc:sldMk cId="0" sldId="277"/>
            <ac:spMk id="8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925" v="56" actId="27636"/>
          <ac:spMkLst>
            <pc:docMk/>
            <pc:sldMk cId="0" sldId="277"/>
            <ac:spMk id="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925" v="57" actId="27636"/>
          <ac:spMkLst>
            <pc:docMk/>
            <pc:sldMk cId="0" sldId="277"/>
            <ac:spMk id="12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925" v="58" actId="27636"/>
          <ac:spMkLst>
            <pc:docMk/>
            <pc:sldMk cId="0" sldId="277"/>
            <ac:spMk id="14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925" v="55" actId="27636"/>
          <ac:spMkLst>
            <pc:docMk/>
            <pc:sldMk cId="0" sldId="277"/>
            <ac:spMk id="15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14:59.997" v="65" actId="27636"/>
        <pc:sldMkLst>
          <pc:docMk/>
          <pc:sldMk cId="0" sldId="278"/>
        </pc:sldMkLst>
        <pc:spChg chg="mod">
          <ac:chgData name="Dang Khoa Pham" userId="a0828928-506b-41e7-91fe-334565ca4eb5" providerId="ADAL" clId="{07F4103E-4D85-4DDD-92DF-5DC143FDFFF6}" dt="2026-07-26T01:14:59.982" v="61" actId="27636"/>
          <ac:spMkLst>
            <pc:docMk/>
            <pc:sldMk cId="0" sldId="278"/>
            <ac:spMk id="8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973" v="60" actId="27636"/>
          <ac:spMkLst>
            <pc:docMk/>
            <pc:sldMk cId="0" sldId="278"/>
            <ac:spMk id="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986" v="62" actId="2763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973" v="59" actId="27636"/>
          <ac:spMkLst>
            <pc:docMk/>
            <pc:sldMk cId="0" sldId="278"/>
            <ac:spMk id="14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993" v="64" actId="27636"/>
          <ac:spMkLst>
            <pc:docMk/>
            <pc:sldMk cId="0" sldId="278"/>
            <ac:spMk id="15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989" v="63" actId="27636"/>
          <ac:spMkLst>
            <pc:docMk/>
            <pc:sldMk cId="0" sldId="278"/>
            <ac:spMk id="17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4:59.997" v="65" actId="27636"/>
          <ac:spMkLst>
            <pc:docMk/>
            <pc:sldMk cId="0" sldId="278"/>
            <ac:spMk id="18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15:00.068" v="72" actId="27636"/>
        <pc:sldMkLst>
          <pc:docMk/>
          <pc:sldMk cId="0" sldId="279"/>
        </pc:sldMkLst>
        <pc:spChg chg="mod">
          <ac:chgData name="Dang Khoa Pham" userId="a0828928-506b-41e7-91fe-334565ca4eb5" providerId="ADAL" clId="{07F4103E-4D85-4DDD-92DF-5DC143FDFFF6}" dt="2026-07-26T01:15:00.016" v="66" actId="27636"/>
          <ac:spMkLst>
            <pc:docMk/>
            <pc:sldMk cId="0" sldId="279"/>
            <ac:spMk id="8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5:00.020" v="67" actId="27636"/>
          <ac:spMkLst>
            <pc:docMk/>
            <pc:sldMk cId="0" sldId="279"/>
            <ac:spMk id="9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5:00.068" v="72" actId="2763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5:00.036" v="68" actId="2763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5:00.052" v="71" actId="27636"/>
          <ac:spMkLst>
            <pc:docMk/>
            <pc:sldMk cId="0" sldId="279"/>
            <ac:spMk id="14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5:00.052" v="69" actId="27636"/>
          <ac:spMkLst>
            <pc:docMk/>
            <pc:sldMk cId="0" sldId="279"/>
            <ac:spMk id="15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5:00.052" v="70" actId="27636"/>
          <ac:spMkLst>
            <pc:docMk/>
            <pc:sldMk cId="0" sldId="279"/>
            <ac:spMk id="17" creationId="{00000000-0000-0000-0000-000000000000}"/>
          </ac:spMkLst>
        </pc:spChg>
      </pc:sldChg>
      <pc:sldChg chg="modSp mod">
        <pc:chgData name="Dang Khoa Pham" userId="a0828928-506b-41e7-91fe-334565ca4eb5" providerId="ADAL" clId="{07F4103E-4D85-4DDD-92DF-5DC143FDFFF6}" dt="2026-07-26T01:15:00.105" v="78" actId="27636"/>
        <pc:sldMkLst>
          <pc:docMk/>
          <pc:sldMk cId="0" sldId="280"/>
        </pc:sldMkLst>
        <pc:spChg chg="mod">
          <ac:chgData name="Dang Khoa Pham" userId="a0828928-506b-41e7-91fe-334565ca4eb5" providerId="ADAL" clId="{07F4103E-4D85-4DDD-92DF-5DC143FDFFF6}" dt="2026-07-26T01:15:00.084" v="75" actId="27636"/>
          <ac:spMkLst>
            <pc:docMk/>
            <pc:sldMk cId="0" sldId="280"/>
            <ac:spMk id="8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5:00.084" v="74" actId="27636"/>
          <ac:spMkLst>
            <pc:docMk/>
            <pc:sldMk cId="0" sldId="280"/>
            <ac:spMk id="12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5:00.068" v="73" actId="27636"/>
          <ac:spMkLst>
            <pc:docMk/>
            <pc:sldMk cId="0" sldId="280"/>
            <ac:spMk id="16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5:00.084" v="76" actId="27636"/>
          <ac:spMkLst>
            <pc:docMk/>
            <pc:sldMk cId="0" sldId="280"/>
            <ac:spMk id="20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5:00.100" v="77" actId="27636"/>
          <ac:spMkLst>
            <pc:docMk/>
            <pc:sldMk cId="0" sldId="280"/>
            <ac:spMk id="23" creationId="{00000000-0000-0000-0000-000000000000}"/>
          </ac:spMkLst>
        </pc:spChg>
        <pc:spChg chg="mod">
          <ac:chgData name="Dang Khoa Pham" userId="a0828928-506b-41e7-91fe-334565ca4eb5" providerId="ADAL" clId="{07F4103E-4D85-4DDD-92DF-5DC143FDFFF6}" dt="2026-07-26T01:15:00.105" v="78" actId="27636"/>
          <ac:spMkLst>
            <pc:docMk/>
            <pc:sldMk cId="0" sldId="280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044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5852160" cy="56692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4600" b="1">
                <a:solidFill>
                  <a:srgbClr val="111827"/>
                </a:solidFill>
                <a:latin typeface="Aptos Display"/>
              </a:rPr>
              <a:t>Python for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1152144"/>
            <a:ext cx="58521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800" b="0">
                <a:solidFill>
                  <a:srgbClr val="1D4ED8"/>
                </a:solidFill>
                <a:latin typeface="Aptos"/>
              </a:rPr>
              <a:t>Beginner Seminar for CDU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21127"/>
            <a:ext cx="5510784" cy="66787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2000" b="0" dirty="0">
                <a:solidFill>
                  <a:srgbClr val="4B5563"/>
                </a:solidFill>
                <a:latin typeface="Aptos"/>
              </a:rPr>
              <a:t>4-hour practical workshop · no programming background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993392"/>
            <a:ext cx="914400" cy="74980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084831"/>
            <a:ext cx="384048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200" b="0">
                <a:solidFill>
                  <a:srgbClr val="111827"/>
                </a:solidFill>
                <a:latin typeface="Aptos"/>
              </a:rPr>
              <a:t>⬇️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404872"/>
            <a:ext cx="731520" cy="146304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1250" b="1">
                <a:solidFill>
                  <a:srgbClr val="1D4ED8"/>
                </a:solidFill>
                <a:latin typeface="Aptos"/>
              </a:rPr>
              <a:t>install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64207" y="1993392"/>
            <a:ext cx="914400" cy="74980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39" y="2084831"/>
            <a:ext cx="384048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200" b="0">
                <a:solidFill>
                  <a:srgbClr val="111827"/>
                </a:solidFill>
                <a:latin typeface="Aptos"/>
              </a:rPr>
              <a:t>▶️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404872"/>
            <a:ext cx="731520" cy="146304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1250" b="1">
                <a:solidFill>
                  <a:srgbClr val="166534"/>
                </a:solidFill>
                <a:latin typeface="Aptos"/>
              </a:rPr>
              <a:t>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993392"/>
            <a:ext cx="914400" cy="74980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9232" y="2084831"/>
            <a:ext cx="384048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200" b="0">
                <a:solidFill>
                  <a:srgbClr val="111827"/>
                </a:solidFill>
                <a:latin typeface="Aptos"/>
              </a:rPr>
              <a:t>⌨️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404872"/>
            <a:ext cx="731520" cy="146304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1250" b="1">
                <a:solidFill>
                  <a:srgbClr val="B45309"/>
                </a:solidFill>
                <a:latin typeface="Aptos"/>
              </a:rPr>
              <a:t>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22191" y="1993392"/>
            <a:ext cx="914400" cy="74980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78224" y="2084831"/>
            <a:ext cx="384048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200" b="0">
                <a:solidFill>
                  <a:srgbClr val="111827"/>
                </a:solidFill>
                <a:latin typeface="Aptos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2404872"/>
            <a:ext cx="731520" cy="146304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1250" b="1">
                <a:solidFill>
                  <a:srgbClr val="6D28D9"/>
                </a:solidFill>
                <a:latin typeface="Aptos"/>
              </a:rPr>
              <a:t>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3" y="1993392"/>
            <a:ext cx="914400" cy="749808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57216" y="2084831"/>
            <a:ext cx="384048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200" b="0">
                <a:solidFill>
                  <a:srgbClr val="111827"/>
                </a:solidFill>
                <a:latin typeface="Aptos"/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3" y="2404872"/>
            <a:ext cx="731520" cy="146304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1250" b="1">
                <a:solidFill>
                  <a:srgbClr val="111827"/>
                </a:solidFill>
                <a:latin typeface="Aptos"/>
              </a:rPr>
              <a:t>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658368"/>
            <a:ext cx="4800600" cy="1508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786384"/>
            <a:ext cx="452628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800" b="0">
                <a:solidFill>
                  <a:srgbClr val="F8FAFC"/>
                </a:solidFill>
                <a:latin typeface="Cascadia Mono"/>
              </a:rPr>
              <a:t># Python reads like small work steps
student_name = "Maya"
score = 72
print("Can pass:", score &gt;= 50)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2514600"/>
            <a:ext cx="4800600" cy="12618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95160" y="2743200"/>
            <a:ext cx="2194560" cy="27432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2000" b="1">
                <a:solidFill>
                  <a:srgbClr val="166534"/>
                </a:solidFill>
                <a:latin typeface="Aptos"/>
              </a:rPr>
              <a:t>Workshop promise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108960"/>
            <a:ext cx="4251960" cy="4206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700" b="0">
                <a:solidFill>
                  <a:srgbClr val="111827"/>
                </a:solidFill>
                <a:latin typeface="Aptos"/>
              </a:rPr>
              <a:t>Learn the useful 20% of Python that gives 80% practical value for study, work and beginner data tasks.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754880"/>
            <a:ext cx="1737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488289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864608"/>
            <a:ext cx="914399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D4ED8"/>
                </a:solidFill>
                <a:latin typeface="Aptos"/>
              </a:rPr>
              <a:t>Idea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193792"/>
            <a:ext cx="914399" cy="301751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endParaRPr/>
          </a:p>
        </p:txBody>
      </p:sp>
      <p:cxnSp>
        <p:nvCxnSpPr>
          <p:cNvPr id="29" name="Connector 28"/>
          <p:cNvCxnSpPr/>
          <p:nvPr/>
        </p:nvCxnSpPr>
        <p:spPr>
          <a:xfrm>
            <a:off x="2834639" y="5148072"/>
            <a:ext cx="685801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794760" y="4754880"/>
            <a:ext cx="1737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86200" y="488289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⌨️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864608"/>
            <a:ext cx="914399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D4ED8"/>
                </a:solidFill>
                <a:latin typeface="Aptos"/>
              </a:rPr>
              <a:t>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193792"/>
            <a:ext cx="914399" cy="301751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5577840" y="5148072"/>
            <a:ext cx="685800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37960" y="4754880"/>
            <a:ext cx="1737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400" y="488289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864608"/>
            <a:ext cx="141732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2500" b="1">
                <a:solidFill>
                  <a:srgbClr val="1D4ED8"/>
                </a:solidFill>
                <a:latin typeface="Aptos"/>
              </a:rP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193792"/>
            <a:ext cx="914399" cy="301751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8321040" y="5148072"/>
            <a:ext cx="685800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281160" y="4754880"/>
            <a:ext cx="1737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72600" y="488289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4864608"/>
            <a:ext cx="141732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2500" b="1">
                <a:solidFill>
                  <a:srgbClr val="1D4ED8"/>
                </a:solidFill>
                <a:latin typeface="Aptos"/>
              </a:rPr>
              <a:t>Improve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5193792"/>
            <a:ext cx="914399" cy="301751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29000" y="6291072"/>
            <a:ext cx="5303520" cy="1828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1520" b="1">
                <a:solidFill>
                  <a:srgbClr val="4B5563"/>
                </a:solidFill>
                <a:latin typeface="Aptos"/>
              </a:rPr>
              <a:t>Slide ↔ Notebook ↔ Python script</a:t>
            </a:r>
          </a:p>
        </p:txBody>
      </p:sp>
      <p:pic>
        <p:nvPicPr>
          <p:cNvPr id="45" name="Picture 44" descr="18,276 Python Symbol Royalty-Free Images, Stock Photos &amp; Pictures | Shutterstock">
            <a:extLst>
              <a:ext uri="{FF2B5EF4-FFF2-40B4-BE49-F238E27FC236}">
                <a16:creationId xmlns:a16="http://schemas.microsoft.com/office/drawing/2014/main" id="{9FBBAC53-E0EE-AF99-B3FE-D013C7955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09" y="2919393"/>
            <a:ext cx="1475994" cy="158953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6" name="TextBox 18">
            <a:extLst>
              <a:ext uri="{FF2B5EF4-FFF2-40B4-BE49-F238E27FC236}">
                <a16:creationId xmlns:a16="http://schemas.microsoft.com/office/drawing/2014/main" id="{7C7CDE32-4439-98CD-C106-B05A724ECD83}"/>
              </a:ext>
            </a:extLst>
          </p:cNvPr>
          <p:cNvSpPr txBox="1"/>
          <p:nvPr/>
        </p:nvSpPr>
        <p:spPr>
          <a:xfrm>
            <a:off x="1689310" y="3238885"/>
            <a:ext cx="45743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dirty="0">
                <a:solidFill>
                  <a:schemeClr val="accent6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Programming is huge</a:t>
            </a:r>
            <a:r>
              <a:rPr lang="en-US">
                <a:solidFill>
                  <a:schemeClr val="accent6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, but we’ll </a:t>
            </a:r>
            <a:r>
              <a:rPr lang="en-US" dirty="0">
                <a:solidFill>
                  <a:schemeClr val="accent6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keep it beginner-friendly and learn the useful basics first — enough to start self-learning and reading real code.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3400" b="1">
                <a:solidFill>
                  <a:srgbClr val="111827"/>
                </a:solidFill>
                <a:latin typeface="Aptos Display"/>
              </a:rPr>
              <a:t>Big picture: what you will be able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1097280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680" b="0">
                <a:solidFill>
                  <a:srgbClr val="1D4ED8"/>
                </a:solidFill>
                <a:latin typeface="Aptos"/>
              </a:rPr>
              <a:t>The workshop moves from zero setup to a small practical report.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993392" cy="1874519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399032"/>
            <a:ext cx="384048" cy="29260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500" b="1">
                <a:solidFill>
                  <a:srgbClr val="1D4ED8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53312"/>
            <a:ext cx="438912" cy="34747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▶️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74519"/>
            <a:ext cx="169164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>
                <a:solidFill>
                  <a:srgbClr val="1D4ED8"/>
                </a:solidFill>
                <a:latin typeface="Aptos"/>
              </a:rPr>
              <a:t>Run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40280"/>
            <a:ext cx="1691640" cy="38404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>
              <a:lnSpc>
                <a:spcPct val="96000"/>
              </a:lnSpc>
            </a:pPr>
            <a:r>
              <a:rPr sz="1520" b="0">
                <a:solidFill>
                  <a:srgbClr val="111827"/>
                </a:solidFill>
                <a:latin typeface="Aptos"/>
              </a:rPr>
              <a:t>Install, verify and run code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167128"/>
            <a:ext cx="292608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39" y="1234440"/>
            <a:ext cx="1993392" cy="1874519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44368" y="1399032"/>
            <a:ext cx="384048" cy="29260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500" b="1">
                <a:solidFill>
                  <a:srgbClr val="166534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353312"/>
            <a:ext cx="438912" cy="34747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1874519"/>
            <a:ext cx="169164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>
                <a:solidFill>
                  <a:srgbClr val="166534"/>
                </a:solidFill>
                <a:latin typeface="Aptos"/>
              </a:rPr>
              <a:t>Store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240280"/>
            <a:ext cx="1691640" cy="38404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>
              <a:lnSpc>
                <a:spcPct val="96000"/>
              </a:lnSpc>
            </a:pPr>
            <a:r>
              <a:rPr sz="1520" b="0">
                <a:solidFill>
                  <a:srgbClr val="111827"/>
                </a:solidFill>
                <a:latin typeface="Aptos"/>
              </a:rPr>
              <a:t>Variables, types and collections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6320" y="2167128"/>
            <a:ext cx="292607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59" y="1234440"/>
            <a:ext cx="1993392" cy="1874519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76088" y="1399032"/>
            <a:ext cx="384048" cy="29260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500" b="1">
                <a:solidFill>
                  <a:srgbClr val="B45309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353312"/>
            <a:ext cx="438912" cy="34747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1" y="1874519"/>
            <a:ext cx="169164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>
                <a:solidFill>
                  <a:srgbClr val="B45309"/>
                </a:solidFill>
                <a:latin typeface="Aptos"/>
              </a:rPr>
              <a:t>Make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1" y="2240280"/>
            <a:ext cx="169164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86000"/>
              </a:lnSpc>
            </a:pPr>
            <a:r>
              <a:rPr sz="1580" b="0">
                <a:solidFill>
                  <a:srgbClr val="111827"/>
                </a:solidFill>
                <a:latin typeface="Aptos"/>
              </a:rPr>
              <a:t>Boolean logic and if statements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78040" y="2167128"/>
            <a:ext cx="292608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79" y="1234440"/>
            <a:ext cx="1993392" cy="1874519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07807" y="1399032"/>
            <a:ext cx="384048" cy="29260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500" b="1">
                <a:solidFill>
                  <a:srgbClr val="6D28D9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59" y="1353312"/>
            <a:ext cx="438912" cy="34747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1874519"/>
            <a:ext cx="169164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>
                <a:solidFill>
                  <a:srgbClr val="6D28D9"/>
                </a:solidFill>
                <a:latin typeface="Aptos"/>
              </a:rPr>
              <a:t>Repeat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2240280"/>
            <a:ext cx="1691640" cy="38404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>
              <a:lnSpc>
                <a:spcPct val="96000"/>
              </a:lnSpc>
            </a:pPr>
            <a:r>
              <a:rPr sz="1520" b="0">
                <a:solidFill>
                  <a:srgbClr val="111827"/>
                </a:solidFill>
                <a:latin typeface="Aptos"/>
              </a:rPr>
              <a:t>Loops and functions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09759" y="2167128"/>
            <a:ext cx="292608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829800" y="1234440"/>
            <a:ext cx="1993392" cy="1874519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1399032"/>
            <a:ext cx="384048" cy="29260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500" b="1">
                <a:solidFill>
                  <a:srgbClr val="111827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1353312"/>
            <a:ext cx="438912" cy="34747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1874519"/>
            <a:ext cx="169164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>
                <a:solidFill>
                  <a:srgbClr val="111827"/>
                </a:solidFill>
                <a:latin typeface="Aptos"/>
              </a:rPr>
              <a:t>Make a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4392" y="2240280"/>
            <a:ext cx="1691640" cy="38404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>
              <a:lnSpc>
                <a:spcPct val="96000"/>
              </a:lnSpc>
            </a:pPr>
            <a:r>
              <a:rPr sz="1520" b="0">
                <a:solidFill>
                  <a:srgbClr val="111827"/>
                </a:solidFill>
                <a:latin typeface="Aptos"/>
              </a:rPr>
              <a:t>pandas + chart + summary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3950208"/>
            <a:ext cx="4892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97280" y="4169663"/>
            <a:ext cx="2103120" cy="22860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2000" b="1">
                <a:solidFill>
                  <a:srgbClr val="166534"/>
                </a:solidFill>
                <a:latin typeface="Aptos"/>
              </a:rPr>
              <a:t>Plain-English goal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526280"/>
            <a:ext cx="4160520" cy="32004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0">
                <a:solidFill>
                  <a:srgbClr val="111827"/>
                </a:solidFill>
                <a:latin typeface="Aptos"/>
              </a:rPr>
              <a:t>Students can read, run, change and explain a simple Python program.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3950208"/>
            <a:ext cx="4892040" cy="123444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20840" y="4169663"/>
            <a:ext cx="2377440" cy="22860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2000" b="1">
                <a:solidFill>
                  <a:srgbClr val="1D4ED8"/>
                </a:solidFill>
                <a:latin typeface="Aptos"/>
              </a:rPr>
              <a:t>Simple mental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526280"/>
            <a:ext cx="4160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700" b="0">
                <a:solidFill>
                  <a:srgbClr val="111827"/>
                </a:solidFill>
                <a:latin typeface="Aptos"/>
              </a:rPr>
              <a:t>Input data → Python steps → useful output for a work task.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3400" b="1">
                <a:solidFill>
                  <a:srgbClr val="111827"/>
                </a:solidFill>
                <a:latin typeface="Aptos Display"/>
              </a:rPr>
              <a:t>How the workshop will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1097280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700" b="0">
                <a:solidFill>
                  <a:srgbClr val="1D4ED8"/>
                </a:solidFill>
                <a:latin typeface="Aptos"/>
              </a:rPr>
              <a:t>Use the slide for the idea, then VS Code / Notebook for the hands-on demo.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120640" cy="137160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6245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44168"/>
            <a:ext cx="4297679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D4ED8"/>
                </a:solidFill>
                <a:latin typeface="Aptos"/>
              </a:rPr>
              <a:t>60%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73352"/>
            <a:ext cx="4297679" cy="86868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Big picture, simple rules, visual mental models and tiny examples.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120640" cy="137160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36245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344168"/>
            <a:ext cx="4297679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66534"/>
                </a:solidFill>
                <a:latin typeface="Aptos"/>
              </a:rPr>
              <a:t>40% VS Code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73352"/>
            <a:ext cx="4297679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580" b="0">
                <a:solidFill>
                  <a:srgbClr val="4B5563"/>
                </a:solidFill>
                <a:latin typeface="Aptos"/>
              </a:rPr>
              <a:t>Run the same idea in Jupyter Notebook and a .py script.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37560"/>
            <a:ext cx="21488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7" y="3493008"/>
            <a:ext cx="320040" cy="27432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500" b="1">
                <a:solidFill>
                  <a:srgbClr val="1D4ED8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56432"/>
            <a:ext cx="1417320" cy="21031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11827"/>
                </a:solidFill>
                <a:latin typeface="Aptos"/>
              </a:rPr>
              <a:t>See the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60"/>
            <a:ext cx="1417320" cy="1828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Slide concept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35808" y="3822191"/>
            <a:ext cx="457200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57600" y="3337560"/>
            <a:ext cx="21488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67328" y="3493008"/>
            <a:ext cx="320040" cy="27432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500" b="1">
                <a:solidFill>
                  <a:srgbClr val="1D4ED8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456432"/>
            <a:ext cx="1417320" cy="21031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11827"/>
                </a:solidFill>
                <a:latin typeface="Aptos"/>
              </a:rPr>
              <a:t>Run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794760"/>
            <a:ext cx="1417320" cy="1828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Notebook cell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24728" y="3822191"/>
            <a:ext cx="457200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46520" y="3337560"/>
            <a:ext cx="21488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56248" y="3493008"/>
            <a:ext cx="320040" cy="27432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500" b="1">
                <a:solidFill>
                  <a:srgbClr val="1D4ED8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456432"/>
            <a:ext cx="1417320" cy="21031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11827"/>
                </a:solidFill>
                <a:latin typeface="Aptos"/>
              </a:rPr>
              <a:t>Reuse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794760"/>
            <a:ext cx="1417320" cy="1828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300" b="0">
                <a:solidFill>
                  <a:srgbClr val="4B5563"/>
                </a:solidFill>
                <a:latin typeface="Aptos"/>
              </a:rPr>
              <a:t>.py script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13648" y="3822191"/>
            <a:ext cx="457200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35439" y="3337560"/>
            <a:ext cx="21488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45167" y="3493008"/>
            <a:ext cx="320040" cy="27432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500" b="1">
                <a:solidFill>
                  <a:srgbClr val="1D4ED8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59" y="3456432"/>
            <a:ext cx="1417320" cy="21031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11827"/>
                </a:solidFill>
                <a:latin typeface="Aptos"/>
              </a:rPr>
              <a:t>Change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59" y="3794760"/>
            <a:ext cx="1417320" cy="1828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Student modifies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5102352"/>
            <a:ext cx="9875520" cy="676656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17320" y="5312664"/>
            <a:ext cx="9326880" cy="1828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1680" b="1">
                <a:solidFill>
                  <a:srgbClr val="B45309"/>
                </a:solidFill>
                <a:latin typeface="Aptos"/>
              </a:rPr>
              <a:t>One story context: Maya prepares a CDU class progress report. Every code example connects to that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3400" b="1">
                <a:solidFill>
                  <a:srgbClr val="111827"/>
                </a:solidFill>
                <a:latin typeface="Aptos Display"/>
              </a:rPr>
              <a:t>Workshop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1097280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700" b="0">
                <a:solidFill>
                  <a:srgbClr val="1D4ED8"/>
                </a:solidFill>
                <a:latin typeface="Aptos"/>
              </a:rPr>
              <a:t>The 80/20 Python path for complete beginners.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2487168" cy="96012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7101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⬇️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52728"/>
            <a:ext cx="1664208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D4ED8"/>
                </a:solidFill>
                <a:latin typeface="Aptos"/>
              </a:rP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81912"/>
            <a:ext cx="1664208" cy="45720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Install Python, VS Code, packages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143000"/>
            <a:ext cx="2487168" cy="96012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27101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▶️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252728"/>
            <a:ext cx="1664208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66534"/>
                </a:solidFill>
                <a:latin typeface="Aptos"/>
              </a:rPr>
              <a:t>Run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581912"/>
            <a:ext cx="166420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580" b="0">
                <a:solidFill>
                  <a:srgbClr val="4B5563"/>
                </a:solidFill>
                <a:latin typeface="Aptos"/>
              </a:rPr>
              <a:t>.py script, Python shell, Jupyter Notebook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143000"/>
            <a:ext cx="2487168" cy="960120"/>
          </a:xfrm>
          <a:prstGeom prst="roundRect">
            <a:avLst/>
          </a:prstGeom>
          <a:solidFill>
            <a:srgbClr val="FEF3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7101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⌨️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252728"/>
            <a:ext cx="1664208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B45309"/>
                </a:solidFill>
                <a:latin typeface="Aptos"/>
              </a:rPr>
              <a:t>Core syntax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581912"/>
            <a:ext cx="166420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580" b="0">
                <a:solidFill>
                  <a:srgbClr val="4B5563"/>
                </a:solidFill>
                <a:latin typeface="Aptos"/>
              </a:rPr>
              <a:t>print(), variables, type(), strings, numbers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143000"/>
            <a:ext cx="2487168" cy="960120"/>
          </a:xfrm>
          <a:prstGeom prst="roundRect">
            <a:avLst/>
          </a:prstGeom>
          <a:solidFill>
            <a:srgbClr val="EDE9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81160" y="127101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1252728"/>
            <a:ext cx="1664208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6D28D9"/>
                </a:solidFill>
                <a:latin typeface="Aptos"/>
              </a:rPr>
              <a:t>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581912"/>
            <a:ext cx="1664208" cy="45720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comparisons, and/or/not, if/elif/else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441448"/>
            <a:ext cx="2487168" cy="960120"/>
          </a:xfrm>
          <a:prstGeom prst="roundRect">
            <a:avLst/>
          </a:prstGeom>
          <a:solidFill>
            <a:srgbClr val="E2E8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2569464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551176"/>
            <a:ext cx="1664208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11827"/>
                </a:solidFill>
                <a:latin typeface="Aptos"/>
              </a:rPr>
              <a:t>Data structures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880360"/>
            <a:ext cx="1664208" cy="45720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list, tuple, dictionary, 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40" y="2441448"/>
            <a:ext cx="2487168" cy="96012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11880" y="2569464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551176"/>
            <a:ext cx="1664208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D4ED8"/>
                </a:solidFill>
                <a:latin typeface="Aptos"/>
              </a:rPr>
              <a:t>Automation basics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2880360"/>
            <a:ext cx="166420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580" b="0">
                <a:solidFill>
                  <a:srgbClr val="4B5563"/>
                </a:solidFill>
                <a:latin typeface="Aptos"/>
              </a:rPr>
              <a:t>for loops, while loops, functions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441448"/>
            <a:ext cx="2487168" cy="96012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2569464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551176"/>
            <a:ext cx="1664208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66534"/>
                </a:solidFill>
                <a:latin typeface="Aptos"/>
              </a:rPr>
              <a:t>Libraries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880360"/>
            <a:ext cx="1664208" cy="45720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pip install, import, pandas, matplotlib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2441448"/>
            <a:ext cx="2487168" cy="960120"/>
          </a:xfrm>
          <a:prstGeom prst="roundRect">
            <a:avLst/>
          </a:prstGeom>
          <a:solidFill>
            <a:srgbClr val="FEF3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81160" y="2569464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551176"/>
            <a:ext cx="1664208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B45309"/>
                </a:solidFill>
                <a:latin typeface="Aptos"/>
              </a:rPr>
              <a:t>Mini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2880360"/>
            <a:ext cx="1664208" cy="45720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student score report + chart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343400"/>
            <a:ext cx="10378440" cy="804672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4590288"/>
            <a:ext cx="1920240" cy="21031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B91C1C"/>
                </a:solidFill>
                <a:latin typeface="Aptos"/>
              </a:rPr>
              <a:t>Cut to save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4590288"/>
            <a:ext cx="7589520" cy="21031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680" b="0">
                <a:solidFill>
                  <a:srgbClr val="111827"/>
                </a:solidFill>
                <a:latin typeface="Aptos"/>
              </a:rPr>
              <a:t>No OOP/classes, decorators, generators, complex ML math or deep learning implementation in this beginner session.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40280" y="5623560"/>
            <a:ext cx="7680960" cy="502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77440" y="5751576"/>
            <a:ext cx="7406640" cy="27432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680" b="0">
                <a:solidFill>
                  <a:srgbClr val="F8FAFC"/>
                </a:solidFill>
                <a:latin typeface="Cascadia Mono"/>
              </a:rPr>
              <a:t>Workshop pattern: concept → tiny code → run → change → explain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3400" b="1">
                <a:solidFill>
                  <a:srgbClr val="111827"/>
                </a:solidFill>
                <a:latin typeface="Aptos Display"/>
              </a:rPr>
              <a:t>What is Python?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1097280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700" b="0">
                <a:solidFill>
                  <a:srgbClr val="1D4ED8"/>
                </a:solidFill>
                <a:latin typeface="Aptos"/>
              </a:rPr>
              <a:t>A readable language for giving clear instructions to a computer.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429000" cy="1115568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19" y="131673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298448"/>
            <a:ext cx="260604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D4ED8"/>
                </a:solidFill>
                <a:latin typeface="Aptos"/>
              </a:rPr>
              <a:t>Plain-language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27632"/>
            <a:ext cx="2606040" cy="612647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Python is like writing a clear recipe: step 1, step 2, step 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88720"/>
            <a:ext cx="3429000" cy="1115568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79" y="131673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298448"/>
            <a:ext cx="260604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66534"/>
                </a:solidFill>
                <a:latin typeface="Aptos"/>
              </a:rPr>
              <a:t>What the computer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27632"/>
            <a:ext cx="2606040" cy="612647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It follows your instructions exactly and shows the result.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429000" cy="1115568"/>
          </a:xfrm>
          <a:prstGeom prst="roundRect">
            <a:avLst/>
          </a:prstGeom>
          <a:solidFill>
            <a:srgbClr val="FEF3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31673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298448"/>
            <a:ext cx="260604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B45309"/>
                </a:solidFill>
                <a:latin typeface="Aptos"/>
              </a:rPr>
              <a:t>Why work uses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627632"/>
            <a:ext cx="2606040" cy="612647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Automate repeated work, process data, build reports and test ideas quickly.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926080"/>
            <a:ext cx="434340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054096"/>
            <a:ext cx="4069080" cy="1417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800" b="0">
                <a:solidFill>
                  <a:srgbClr val="F8FAFC"/>
                </a:solidFill>
                <a:latin typeface="Cascadia Mono"/>
              </a:rPr>
              <a:t>price = 120
discount = 0.20
final_price = price * (1 - discount)
print(final_price)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926080"/>
            <a:ext cx="2103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3154680"/>
            <a:ext cx="1371600" cy="22860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>
                <a:solidFill>
                  <a:srgbClr val="111827"/>
                </a:solidFill>
                <a:latin typeface="Aptos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456432"/>
            <a:ext cx="1600200" cy="1828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price + discount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92440" y="3383280"/>
            <a:ext cx="640080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15400" y="2926080"/>
            <a:ext cx="2103120" cy="91440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7152" y="3154680"/>
            <a:ext cx="1371600" cy="22860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>
                <a:solidFill>
                  <a:srgbClr val="166534"/>
                </a:solidFill>
                <a:latin typeface="Aptos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3456432"/>
            <a:ext cx="987552" cy="1828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1680" b="0">
                <a:solidFill>
                  <a:srgbClr val="111827"/>
                </a:solidFill>
                <a:latin typeface="Aptos"/>
              </a:rPr>
              <a:t>96.0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138928"/>
            <a:ext cx="9966960" cy="694944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17320" y="5376672"/>
            <a:ext cx="9326880" cy="1828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1680" b="1">
                <a:solidFill>
                  <a:srgbClr val="111827"/>
                </a:solidFill>
                <a:latin typeface="Aptos"/>
              </a:rPr>
              <a:t>Beginner rule: do not memorise everything. Learn how to run, read errors, change small parts and test again.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3400" b="1">
                <a:solidFill>
                  <a:srgbClr val="111827"/>
                </a:solidFill>
                <a:latin typeface="Aptos Display"/>
              </a:rPr>
              <a:t>Python is clean compared with many languages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1097280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680" b="0">
                <a:solidFill>
                  <a:srgbClr val="1D4ED8"/>
                </a:solidFill>
                <a:latin typeface="Aptos"/>
              </a:rPr>
              <a:t>Less ceremony means beginners can focus on the idea, not punctuation.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70432"/>
            <a:ext cx="1828800" cy="237744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2000" b="1">
                <a:solidFill>
                  <a:srgbClr val="166534"/>
                </a:solidFill>
                <a:latin typeface="Aptos"/>
              </a:rPr>
              <a:t>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4754880" cy="14630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64207"/>
            <a:ext cx="4480560" cy="1234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800" b="0">
                <a:solidFill>
                  <a:srgbClr val="F8FAFC"/>
                </a:solidFill>
                <a:latin typeface="Cascadia Mono"/>
              </a:rPr>
              <a:t>if score &gt;= 50:
    print("Pass")
else:
    print("Review")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170432"/>
            <a:ext cx="2926080" cy="237744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2000" b="1">
                <a:solidFill>
                  <a:srgbClr val="B91C1C"/>
                </a:solidFill>
                <a:latin typeface="Aptos"/>
              </a:rPr>
              <a:t>Typical C-style syntax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36192"/>
            <a:ext cx="4754880" cy="16002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664207"/>
            <a:ext cx="448056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700" b="0">
                <a:solidFill>
                  <a:srgbClr val="F8FAFC"/>
                </a:solidFill>
                <a:latin typeface="Cascadia Mono"/>
              </a:rPr>
              <a:t>if (score &gt;= 50) {
    print("Pass");
} else {
    print("Review");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49039"/>
            <a:ext cx="3108960" cy="91440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77055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858768"/>
            <a:ext cx="228600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66534"/>
                </a:solidFill>
                <a:latin typeface="Aptos"/>
              </a:rPr>
              <a:t>Python uses indentation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187952"/>
            <a:ext cx="2286000" cy="411479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Spaces show which lines belong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749039"/>
            <a:ext cx="3108960" cy="914400"/>
          </a:xfrm>
          <a:prstGeom prst="roundRect">
            <a:avLst/>
          </a:prstGeom>
          <a:solidFill>
            <a:srgbClr val="FEF3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3877055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858768"/>
            <a:ext cx="228600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B45309"/>
                </a:solidFill>
                <a:latin typeface="Aptos"/>
              </a:rPr>
              <a:t>No braces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187952"/>
            <a:ext cx="2286000" cy="4114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580" b="0">
                <a:solidFill>
                  <a:srgbClr val="4B5563"/>
                </a:solidFill>
                <a:latin typeface="Aptos"/>
              </a:rPr>
              <a:t>No { } for simple code blocks.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749039"/>
            <a:ext cx="310896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3877055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858768"/>
            <a:ext cx="228600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D4ED8"/>
                </a:solidFill>
                <a:latin typeface="Aptos"/>
              </a:rPr>
              <a:t>Less punctuation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187952"/>
            <a:ext cx="2286000" cy="411479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Semicolons are normally unnecessary.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5349240"/>
            <a:ext cx="1828800" cy="34747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" y="5413248"/>
            <a:ext cx="1755648" cy="16459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1520" b="1">
                <a:solidFill>
                  <a:srgbClr val="111827"/>
                </a:solidFill>
                <a:latin typeface="Aptos"/>
              </a:rPr>
              <a:t>Data processing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5349240"/>
            <a:ext cx="1188720" cy="34747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82696" y="5413248"/>
            <a:ext cx="1115568" cy="16459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1250" b="1">
                <a:solidFill>
                  <a:srgbClr val="111827"/>
                </a:solidFill>
                <a:latin typeface="Aptos"/>
              </a:rPr>
              <a:t>AI / ML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28032" y="5349240"/>
            <a:ext cx="1371600" cy="34747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8" y="5413248"/>
            <a:ext cx="1298448" cy="16459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1250" b="1">
                <a:solidFill>
                  <a:srgbClr val="111827"/>
                </a:solidFill>
                <a:latin typeface="Aptos"/>
              </a:rPr>
              <a:t>Web tools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5349240"/>
            <a:ext cx="2103120" cy="34747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65976" y="5413248"/>
            <a:ext cx="2029967" cy="16459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1520" b="1">
                <a:solidFill>
                  <a:srgbClr val="111827"/>
                </a:solidFill>
                <a:latin typeface="Aptos"/>
              </a:rPr>
              <a:t>Automation scripts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5349240"/>
            <a:ext cx="1143000" cy="34747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34855" y="5413248"/>
            <a:ext cx="1069848" cy="16459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1250" b="1">
                <a:solidFill>
                  <a:srgbClr val="111827"/>
                </a:solidFill>
                <a:latin typeface="Aptos"/>
              </a:rPr>
              <a:t>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3400" b="1">
                <a:solidFill>
                  <a:srgbClr val="111827"/>
                </a:solidFill>
                <a:latin typeface="Aptos Display"/>
              </a:rPr>
              <a:t>Install Python + VS Code quickly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1097280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700" b="0">
                <a:solidFill>
                  <a:srgbClr val="1D4ED8"/>
                </a:solidFill>
                <a:latin typeface="Aptos"/>
              </a:rPr>
              <a:t>Beginner setup for Windows laptops.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3337560" cy="150876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325880"/>
            <a:ext cx="32004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500" b="1">
                <a:solidFill>
                  <a:srgbClr val="1D4ED8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298448"/>
            <a:ext cx="411480" cy="32004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500" b="0">
                <a:solidFill>
                  <a:srgbClr val="111827"/>
                </a:solidFill>
                <a:latin typeface="Aptos"/>
              </a:rPr>
              <a:t>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1" y="1280160"/>
            <a:ext cx="2057400" cy="22860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D4ED8"/>
                </a:solidFill>
                <a:latin typeface="Aptos"/>
              </a:rPr>
              <a:t>Install Python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1" y="1645920"/>
            <a:ext cx="2468880" cy="41148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111827"/>
                </a:solidFill>
                <a:latin typeface="Aptos"/>
              </a:rPr>
              <a:t>Download Python 3 and tick Add Python to PATH.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05072" y="1901952"/>
            <a:ext cx="402336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80560" y="1142999"/>
            <a:ext cx="3337560" cy="1929371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645152" y="1325880"/>
            <a:ext cx="32004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500" b="1">
                <a:solidFill>
                  <a:srgbClr val="166534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298448"/>
            <a:ext cx="411480" cy="32004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500" b="0">
                <a:solidFill>
                  <a:srgbClr val="111827"/>
                </a:solidFill>
                <a:latin typeface="Aptos"/>
              </a:rPr>
              <a:t>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1280160"/>
            <a:ext cx="2057400" cy="22860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66534"/>
                </a:solidFill>
                <a:latin typeface="Aptos"/>
              </a:rPr>
              <a:t>Install VS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1645920"/>
            <a:ext cx="2468880" cy="41148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 dirty="0">
                <a:solidFill>
                  <a:srgbClr val="111827"/>
                </a:solidFill>
                <a:latin typeface="Aptos"/>
              </a:rPr>
              <a:t>Open Extensions and install the Python extension.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45552" y="1901952"/>
            <a:ext cx="402336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21040" y="1143000"/>
            <a:ext cx="3337560" cy="150876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1325880"/>
            <a:ext cx="32004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500" b="1">
                <a:solidFill>
                  <a:srgbClr val="B45309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1298448"/>
            <a:ext cx="411480" cy="32004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500" b="0">
                <a:solidFill>
                  <a:srgbClr val="111827"/>
                </a:solidFill>
                <a:latin typeface="Aptos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1280160"/>
            <a:ext cx="2057400" cy="22860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B45309"/>
                </a:solidFill>
                <a:latin typeface="Aptos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1645920"/>
            <a:ext cx="2468880" cy="41148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111827"/>
                </a:solidFill>
                <a:latin typeface="Aptos"/>
              </a:rPr>
              <a:t>Open Terminal in VS Code and check Python works.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73552"/>
            <a:ext cx="5166360" cy="14173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401568"/>
            <a:ext cx="489204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800" b="0">
                <a:solidFill>
                  <a:srgbClr val="F8FAFC"/>
                </a:solidFill>
                <a:latin typeface="Cascadia Mono"/>
              </a:rPr>
              <a:t>py --version
python --version
py -m pip install notebook pandas matplotlib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273552"/>
            <a:ext cx="4937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493008"/>
            <a:ext cx="2834640" cy="22860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2000" b="1">
                <a:solidFill>
                  <a:srgbClr val="B91C1C"/>
                </a:solidFill>
                <a:latin typeface="Aptos"/>
              </a:rPr>
              <a:t>Windows PATH reminder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858768"/>
            <a:ext cx="4389120" cy="41148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680" b="0">
                <a:solidFill>
                  <a:srgbClr val="111827"/>
                </a:solidFill>
                <a:latin typeface="Aptos"/>
              </a:rPr>
              <a:t>If Python is not found, check PATH or use the Python launcher command: 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25880" y="5230368"/>
            <a:ext cx="9555480" cy="5943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63039" y="5358383"/>
            <a:ext cx="9281159" cy="36576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F8FAFC"/>
                </a:solidFill>
                <a:latin typeface="Cascadia Mono"/>
              </a:rPr>
              <a:t>C:\Users\&lt;YourName&gt;\AppData\Local\Programs\Python\Python311
C:\Users\&lt;YourName&gt;\AppData\Local\Programs\Python\Python311\Scripts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84F7F1-9F9D-66AB-A11F-9ADF9023D9B7}"/>
              </a:ext>
            </a:extLst>
          </p:cNvPr>
          <p:cNvSpPr txBox="1"/>
          <p:nvPr/>
        </p:nvSpPr>
        <p:spPr>
          <a:xfrm>
            <a:off x="5010912" y="2224033"/>
            <a:ext cx="2468880" cy="697499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lang="en-US" sz="1400" b="0" dirty="0">
                <a:solidFill>
                  <a:srgbClr val="111827"/>
                </a:solidFill>
                <a:latin typeface="Abadi ExtraLight" panose="020F0502020204030204" pitchFamily="34" charset="0"/>
              </a:rPr>
              <a:t>VS code first:</a:t>
            </a:r>
          </a:p>
          <a:p>
            <a:pPr algn="l">
              <a:lnSpc>
                <a:spcPct val="96000"/>
              </a:lnSpc>
            </a:pPr>
            <a:r>
              <a:rPr lang="en-US" sz="1400" b="0" dirty="0">
                <a:solidFill>
                  <a:srgbClr val="111827"/>
                </a:solidFill>
                <a:latin typeface="Abadi ExtraLight" panose="020F0502020204030204" pitchFamily="34" charset="0"/>
              </a:rPr>
              <a:t>Op</a:t>
            </a:r>
            <a:r>
              <a:rPr lang="en-US" sz="1400" dirty="0">
                <a:solidFill>
                  <a:srgbClr val="111827"/>
                </a:solidFill>
                <a:latin typeface="Abadi ExtraLight" panose="020F0502020204030204" pitchFamily="34" charset="0"/>
              </a:rPr>
              <a:t>en terminal: Ctrl + ~</a:t>
            </a:r>
          </a:p>
          <a:p>
            <a:pPr algn="l">
              <a:lnSpc>
                <a:spcPct val="96000"/>
              </a:lnSpc>
            </a:pPr>
            <a:r>
              <a:rPr lang="en-US" sz="1400" b="0" dirty="0">
                <a:solidFill>
                  <a:srgbClr val="111827"/>
                </a:solidFill>
                <a:latin typeface="Abadi ExtraLight" panose="020F0502020204030204" pitchFamily="34" charset="0"/>
              </a:rPr>
              <a:t>Comment: Ctrl + /</a:t>
            </a:r>
            <a:endParaRPr sz="1400" b="0" dirty="0">
              <a:solidFill>
                <a:srgbClr val="111827"/>
              </a:solidFill>
              <a:latin typeface="Abadi ExtraLight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3400" b="1">
                <a:solidFill>
                  <a:srgbClr val="111827"/>
                </a:solidFill>
                <a:latin typeface="Aptos Display"/>
              </a:rPr>
              <a:t>Optional: project environment + Jupyter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1097280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680" b="0">
                <a:solidFill>
                  <a:srgbClr val="1D4ED8"/>
                </a:solidFill>
                <a:latin typeface="Aptos"/>
              </a:rPr>
              <a:t>Keep this brief. Use it when students are ready.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3429000" cy="13258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6245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44168"/>
            <a:ext cx="260604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D4ED8"/>
                </a:solidFill>
                <a:latin typeface="Aptos"/>
              </a:rPr>
              <a:t>Global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73352"/>
            <a:ext cx="2606040" cy="82295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580" b="0">
                <a:solidFill>
                  <a:srgbClr val="4B5563"/>
                </a:solidFill>
                <a:latin typeface="Aptos"/>
              </a:rPr>
              <a:t>Packages are installed for the general Python installation. Simple for a first workshop.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429000" cy="13258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79" y="136245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44168"/>
            <a:ext cx="260604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66534"/>
                </a:solidFill>
                <a:latin typeface="Aptos"/>
              </a:rPr>
              <a:t>Virtual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73352"/>
            <a:ext cx="2606040" cy="82295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580" b="0">
                <a:solidFill>
                  <a:srgbClr val="4B5563"/>
                </a:solidFill>
                <a:latin typeface="Aptos"/>
              </a:rPr>
              <a:t>A project-specific space for packages. Useful when projects need different versions.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429000" cy="1325880"/>
          </a:xfrm>
          <a:prstGeom prst="roundRect">
            <a:avLst/>
          </a:prstGeom>
          <a:solidFill>
            <a:srgbClr val="FEF3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136245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344168"/>
            <a:ext cx="260604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B45309"/>
                </a:solidFill>
                <a:latin typeface="Aptos"/>
              </a:rPr>
              <a:t>Jupyter Notebook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673352"/>
            <a:ext cx="2606040" cy="822959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Interactive document: explanation + code + output + charts in one place.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246120"/>
            <a:ext cx="525780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39" y="3374136"/>
            <a:ext cx="498348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800" b="0">
                <a:solidFill>
                  <a:srgbClr val="F8FAFC"/>
                </a:solidFill>
                <a:latin typeface="Cascadia Mono"/>
              </a:rPr>
              <a:t>python -m venv .venv
.venv\Scripts\activate
py -m pip install notebook
jupyter notebook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3383280"/>
            <a:ext cx="4206240" cy="15087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3621024"/>
            <a:ext cx="1828800" cy="22860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2000" b="1">
                <a:solidFill>
                  <a:srgbClr val="111827"/>
                </a:solidFill>
                <a:latin typeface="Aptos"/>
              </a:rPr>
              <a:t>80/20 advice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995928"/>
            <a:ext cx="3566160" cy="53035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700" b="0">
                <a:solidFill>
                  <a:srgbClr val="111827"/>
                </a:solidFill>
                <a:latin typeface="Aptos"/>
              </a:rPr>
              <a:t>Start simple. Use global Python for the first workshop, then learn virtual environments as projects grow.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3400" b="1">
                <a:solidFill>
                  <a:srgbClr val="111827"/>
                </a:solidFill>
                <a:latin typeface="Aptos Display"/>
              </a:rPr>
              <a:t>How to run Python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1097280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680" b="0">
                <a:solidFill>
                  <a:srgbClr val="1D4ED8"/>
                </a:solidFill>
                <a:latin typeface="Aptos"/>
              </a:rPr>
              <a:t>Three beginner-friendly ways.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246120" cy="105156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7101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52728"/>
            <a:ext cx="242316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D4ED8"/>
                </a:solidFill>
                <a:latin typeface="Aptos"/>
              </a:rPr>
              <a:t>.py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81912"/>
            <a:ext cx="2423160" cy="54863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580" b="0">
                <a:solidFill>
                  <a:srgbClr val="4B5563"/>
                </a:solidFill>
                <a:latin typeface="Aptos"/>
              </a:rPr>
              <a:t>Best for reusable programs and automation.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3246120" cy="1508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551176"/>
            <a:ext cx="297180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580" b="0">
                <a:solidFill>
                  <a:srgbClr val="F8FAFC"/>
                </a:solidFill>
                <a:latin typeface="Cascadia Mono"/>
              </a:rPr>
              <a:t>py hello.py
python hello.py
python3 hello.py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143000"/>
            <a:ext cx="3246120" cy="105156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1" y="127101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1252728"/>
            <a:ext cx="242316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66534"/>
                </a:solidFill>
                <a:latin typeface="Aptos"/>
              </a:rPr>
              <a:t>Python shell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581912"/>
            <a:ext cx="2423160" cy="54863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580" b="0">
                <a:solidFill>
                  <a:srgbClr val="4B5563"/>
                </a:solidFill>
                <a:latin typeface="Aptos"/>
              </a:rPr>
              <a:t>Best for very quick experiments.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2423160"/>
            <a:ext cx="3246120" cy="1508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2551176"/>
            <a:ext cx="2971800" cy="128016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680" b="0">
                <a:solidFill>
                  <a:srgbClr val="F8FAFC"/>
                </a:solidFill>
                <a:latin typeface="Cascadia Mono"/>
              </a:rPr>
              <a:t>py
&gt;&gt;&gt; 2 + 3
5
&gt;&gt;&gt; exit()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0183" y="1143000"/>
            <a:ext cx="3246120" cy="1051560"/>
          </a:xfrm>
          <a:prstGeom prst="roundRect">
            <a:avLst/>
          </a:prstGeom>
          <a:solidFill>
            <a:srgbClr val="FEF3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21624" y="127101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1252728"/>
            <a:ext cx="2423160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B45309"/>
                </a:solidFill>
                <a:latin typeface="Aptos"/>
              </a:rPr>
              <a:t>Jupyter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1581912"/>
            <a:ext cx="2423160" cy="54863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580" b="0">
                <a:solidFill>
                  <a:srgbClr val="4B5563"/>
                </a:solidFill>
                <a:latin typeface="Aptos"/>
              </a:rPr>
              <a:t>Best for learning, explaining and prototyping.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0183" y="2423160"/>
            <a:ext cx="3246120" cy="1508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67344" y="2551176"/>
            <a:ext cx="297180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580" b="0">
                <a:solidFill>
                  <a:srgbClr val="F8FAFC"/>
                </a:solidFill>
                <a:latin typeface="Cascadia Mono"/>
              </a:rPr>
              <a:t>jupyter notebook
# run code cell by cell
# output appears below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36592"/>
            <a:ext cx="9784080" cy="74980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81328" y="5010912"/>
            <a:ext cx="9189720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700" b="1">
                <a:solidFill>
                  <a:srgbClr val="6D28D9"/>
                </a:solidFill>
                <a:latin typeface="Aptos"/>
              </a:rPr>
              <a:t>Today: slides explain the idea → Notebook shows it live → .py script shows reusable workflow.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3400" b="1">
                <a:solidFill>
                  <a:srgbClr val="111827"/>
                </a:solidFill>
                <a:latin typeface="Aptos Display"/>
              </a:rPr>
              <a:t>Script or Notebook?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1097280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700" b="0">
                <a:solidFill>
                  <a:srgbClr val="1D4ED8"/>
                </a:solidFill>
                <a:latin typeface="Aptos"/>
              </a:rPr>
              <a:t>Choose the right tool for the task.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4846320" cy="118872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7101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52728"/>
            <a:ext cx="4023359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D4ED8"/>
                </a:solidFill>
                <a:latin typeface="Aptos"/>
              </a:rPr>
              <a:t>Use .py file when…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81912"/>
            <a:ext cx="4023359" cy="68580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You want a reusable program, an automation script, or a file that runs from top to bottom.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43000"/>
            <a:ext cx="4846320" cy="118872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71016"/>
            <a:ext cx="502920" cy="41148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2900" b="0">
                <a:solidFill>
                  <a:srgbClr val="111827"/>
                </a:solidFill>
                <a:latin typeface="Aptos"/>
              </a:rPr>
              <a:t>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252728"/>
            <a:ext cx="4023359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830" b="1">
                <a:solidFill>
                  <a:srgbClr val="166534"/>
                </a:solidFill>
                <a:latin typeface="Aptos"/>
              </a:rPr>
              <a:t>Use Jupyter Notebook when…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581912"/>
            <a:ext cx="4023359" cy="68580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520" b="0">
                <a:solidFill>
                  <a:srgbClr val="4B5563"/>
                </a:solidFill>
                <a:latin typeface="Aptos"/>
              </a:rPr>
              <a:t>You are learning, exploring, documenting steps, showing output and creating charts.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43200"/>
            <a:ext cx="4617720" cy="11430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871216"/>
            <a:ext cx="43434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800" b="0">
                <a:solidFill>
                  <a:srgbClr val="F8FAFC"/>
                </a:solidFill>
                <a:latin typeface="Cascadia Mono"/>
              </a:rPr>
              <a:t># hello.py
student_name = "Maya"
print("Hello", student_name)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743200"/>
            <a:ext cx="461772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871216"/>
            <a:ext cx="4343400" cy="1143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1700" b="0">
                <a:solidFill>
                  <a:srgbClr val="F8FAFC"/>
                </a:solidFill>
                <a:latin typeface="Cascadia Mono"/>
              </a:rPr>
              <a:t># Notebook cell
student_name = "Maya"
print("Hello", student_name)
# output appears below the cell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4892040"/>
            <a:ext cx="9784080" cy="80467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>
              <a:lnSpc>
                <a:spcPct val="96000"/>
              </a:lnSpc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63040" y="5166360"/>
            <a:ext cx="9235440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86000"/>
              </a:lnSpc>
            </a:pPr>
            <a:r>
              <a:rPr sz="1580" b="1">
                <a:solidFill>
                  <a:srgbClr val="111827"/>
                </a:solidFill>
                <a:latin typeface="Aptos"/>
              </a:rPr>
              <a:t>Beginner decision: learning/explaining/charting → Notebook     repeating/automation/sharing code → .py script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Python program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dirty="0">
                <a:solidFill>
                  <a:srgbClr val="4B5563"/>
                </a:solidFill>
              </a:rPr>
              <a:t>Make the computer display a result.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914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5577840" cy="123444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1764792"/>
            <a:ext cx="5248656" cy="90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print("Hello, CDU!")</a:t>
            </a:r>
            <a:endParaRPr lang="en-US" sz="22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studentName = "Maya Chen"</a:t>
            </a:r>
            <a:endParaRPr lang="en-US" sz="22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print("Welcome", studentName)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995160" y="1600200"/>
            <a:ext cx="4343400" cy="96012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59752" y="1746504"/>
            <a:ext cx="4014216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What print() does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159752" y="2148840"/>
            <a:ext cx="4014216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 fontScale="625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dirty="0">
                <a:solidFill>
                  <a:srgbClr val="111827"/>
                </a:solidFill>
              </a:rPr>
              <a:t>Displays information so you can see the result of your code.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995160" y="2834640"/>
            <a:ext cx="4343400" cy="96012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59752" y="2980944"/>
            <a:ext cx="4014216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59669"/>
                </a:solidFill>
              </a:rPr>
              <a:t>Beginner habit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159752" y="3383280"/>
            <a:ext cx="4014216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 fontScale="625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dirty="0">
                <a:solidFill>
                  <a:srgbClr val="111827"/>
                </a:solidFill>
              </a:rPr>
              <a:t>Run code often. If something breaks, read the last error line first.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995160" y="4069080"/>
            <a:ext cx="4343400" cy="960120"/>
          </a:xfrm>
          <a:prstGeom prst="roundRect">
            <a:avLst>
              <a:gd name="adj" fmla="val 11429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59752" y="4215384"/>
            <a:ext cx="4014216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7C3AED"/>
                </a:solidFill>
              </a:rPr>
              <a:t>Try this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159752" y="4617720"/>
            <a:ext cx="4014216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 fontScale="70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dirty="0">
                <a:solidFill>
                  <a:srgbClr val="111827"/>
                </a:solidFill>
              </a:rPr>
              <a:t>Change the name and message, then run the cell again.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 &amp; data types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dirty="0">
                <a:solidFill>
                  <a:srgbClr val="4B5563"/>
                </a:solidFill>
              </a:rPr>
              <a:t>Variables store information. type() tells you what kind.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914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6400800" cy="36576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" y="1673352"/>
            <a:ext cx="6071616" cy="3328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studentName = "Maya Chen"      # str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studentAge = 22                # int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hoursStudied = 6.5             # float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isCduStudent = True           # bool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weeklyScores = [80, 90, 75]    # list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campus = ("Darwin", "NT")      # tuple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profile = {"name": studentName, "score": 90}  # dict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tags = {"Python", "Data", "AI"}  # set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print(type(studentName))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52360" y="1572768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43800" y="1673352"/>
            <a:ext cx="777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2563EB"/>
                </a:solidFill>
              </a:rPr>
              <a:t>str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183880" y="1673352"/>
            <a:ext cx="79552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350" dirty="0">
                <a:solidFill>
                  <a:srgbClr val="111827"/>
                </a:solidFill>
              </a:rPr>
              <a:t>text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281160" y="1572768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72600" y="1673352"/>
            <a:ext cx="777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2563EB"/>
                </a:solidFill>
              </a:rPr>
              <a:t>int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12680" y="1673352"/>
            <a:ext cx="79552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350" dirty="0">
                <a:solidFill>
                  <a:srgbClr val="111827"/>
                </a:solidFill>
              </a:rPr>
              <a:t>whole number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52360" y="2414016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43800" y="2514600"/>
            <a:ext cx="777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2563EB"/>
                </a:solidFill>
              </a:rPr>
              <a:t>float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183880" y="2514600"/>
            <a:ext cx="79552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350" dirty="0">
                <a:solidFill>
                  <a:srgbClr val="111827"/>
                </a:solidFill>
              </a:rPr>
              <a:t>decimal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281160" y="2414016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72600" y="2514600"/>
            <a:ext cx="777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2563EB"/>
                </a:solidFill>
              </a:rPr>
              <a:t>bool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012680" y="2514600"/>
            <a:ext cx="79552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350" dirty="0">
                <a:solidFill>
                  <a:srgbClr val="111827"/>
                </a:solidFill>
              </a:rPr>
              <a:t>True/False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52360" y="3255264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43800" y="3355848"/>
            <a:ext cx="777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2563EB"/>
                </a:solidFill>
              </a:rPr>
              <a:t>list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183880" y="3355848"/>
            <a:ext cx="79552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350" dirty="0">
                <a:solidFill>
                  <a:srgbClr val="111827"/>
                </a:solidFill>
              </a:rPr>
              <a:t>many values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281160" y="3255264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72600" y="3355848"/>
            <a:ext cx="777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2563EB"/>
                </a:solidFill>
              </a:rPr>
              <a:t>tuple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012680" y="3355848"/>
            <a:ext cx="79552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350" dirty="0">
                <a:solidFill>
                  <a:srgbClr val="111827"/>
                </a:solidFill>
              </a:rPr>
              <a:t>fixed group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452360" y="4096512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43800" y="4197096"/>
            <a:ext cx="777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2563EB"/>
                </a:solidFill>
              </a:rPr>
              <a:t>dict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183880" y="4197096"/>
            <a:ext cx="79552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350" dirty="0">
                <a:solidFill>
                  <a:srgbClr val="111827"/>
                </a:solidFill>
              </a:rPr>
              <a:t>key-value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281160" y="4096512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372600" y="4197096"/>
            <a:ext cx="777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2563EB"/>
                </a:solidFill>
              </a:rPr>
              <a:t>set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0012680" y="4197096"/>
            <a:ext cx="79552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520" dirty="0">
                <a:solidFill>
                  <a:srgbClr val="111827"/>
                </a:solidFill>
              </a:rPr>
              <a:t>unique values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with strings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dirty="0">
                <a:solidFill>
                  <a:srgbClr val="4B5563"/>
                </a:solidFill>
              </a:rPr>
              <a:t>Strings are text values: names, labels, messages and categories.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914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5806440" cy="2834640"/>
          </a:xfrm>
          <a:prstGeom prst="roundRect">
            <a:avLst>
              <a:gd name="adj" fmla="val 3871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673352"/>
            <a:ext cx="5477256" cy="2505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studentName = "maya chen"</a:t>
            </a: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courseName = "Python for Work"</a:t>
            </a: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print(studentName.upper())</a:t>
            </a: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print(studentName.title())</a:t>
            </a: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print(len(studentName))</a:t>
            </a: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message = f"Welcome {studentName.title()} to {courseName}"</a:t>
            </a: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print(message)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995160" y="1691640"/>
            <a:ext cx="4251960" cy="9144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59752" y="1856232"/>
            <a:ext cx="1965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Common actions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62872" y="1837944"/>
            <a:ext cx="1783080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1580" dirty="0">
                <a:solidFill>
                  <a:srgbClr val="111827"/>
                </a:solidFill>
              </a:rPr>
              <a:t>.upper() · .lower() · .title() · len() · f"...{value}..."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995160" y="2926080"/>
            <a:ext cx="4251960" cy="96012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59752" y="3072384"/>
            <a:ext cx="3922776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59669"/>
                </a:solidFill>
              </a:rPr>
              <a:t>Practical use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159752" y="3474720"/>
            <a:ext cx="3922776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 fontScale="475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dirty="0">
                <a:solidFill>
                  <a:srgbClr val="111827"/>
                </a:solidFill>
              </a:rPr>
              <a:t>Clean names, prepare labels, build report messages and format outputs.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995160" y="4187952"/>
            <a:ext cx="4251960" cy="91440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59752" y="4352544"/>
            <a:ext cx="12344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7C3AED"/>
                </a:solidFill>
              </a:rPr>
              <a:t>Try this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31352" y="4334256"/>
            <a:ext cx="2514600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Change the student name. Add campus or degree.</a:t>
            </a:r>
            <a:endParaRPr lang="en-US" sz="14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with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4B5563"/>
                </a:solidFill>
              </a:rPr>
              <a:t>Numbers are used for calculations, totals, rates and measurements.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914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5852160" cy="3383280"/>
          </a:xfrm>
          <a:prstGeom prst="roundRect">
            <a:avLst>
              <a:gd name="adj" fmla="val 3243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581912"/>
            <a:ext cx="5522976" cy="3054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labHours = 6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assistantRate = 32.5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pay = labHours * assistantRate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print(pay)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print(round(pay, 2))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print(10 / 3)   # division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print(10 // 3)  # whole-number division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print(10 % 3)   # remainder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print(2 ** 3)   # power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0" y="1554480"/>
            <a:ext cx="502920" cy="329184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2563EB"/>
                </a:solidFill>
              </a:rPr>
              <a:t>+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26680" y="1609344"/>
            <a:ext cx="10972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add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0" y="1554480"/>
            <a:ext cx="502920" cy="329184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2563EB"/>
                </a:solidFill>
              </a:rPr>
              <a:t>-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55480" y="1609344"/>
            <a:ext cx="10972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subtract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0" y="2267712"/>
            <a:ext cx="502920" cy="329184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2563EB"/>
                </a:solidFill>
              </a:rPr>
              <a:t>*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726680" y="2322576"/>
            <a:ext cx="10972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multiply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0" y="2267712"/>
            <a:ext cx="502920" cy="329184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2563EB"/>
                </a:solidFill>
              </a:rPr>
              <a:t>/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555480" y="2322576"/>
            <a:ext cx="10972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divide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0" y="2980944"/>
            <a:ext cx="502920" cy="329184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2563EB"/>
                </a:solidFill>
              </a:rPr>
              <a:t>//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726680" y="3035808"/>
            <a:ext cx="10972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whole divide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61120" y="2980944"/>
            <a:ext cx="502920" cy="329184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2563EB"/>
                </a:solidFill>
              </a:rPr>
              <a:t>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55480" y="3035808"/>
            <a:ext cx="10972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remainder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0" y="3694176"/>
            <a:ext cx="502920" cy="329184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2563EB"/>
                </a:solidFill>
              </a:rPr>
              <a:t>**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726680" y="3749040"/>
            <a:ext cx="10972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power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Boolean logic &amp; comparisons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dirty="0">
                <a:solidFill>
                  <a:srgbClr val="4B5563"/>
                </a:solidFill>
              </a:rPr>
              <a:t>Conditions produce True or False, then code can decide what to do.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914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6309360" cy="3520440"/>
          </a:xfrm>
          <a:prstGeom prst="roundRect">
            <a:avLst>
              <a:gd name="adj" fmla="val 3117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581912"/>
            <a:ext cx="5980176" cy="3191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 = 72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attendance = 0.85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print(score &gt; 50)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print(score == 72)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print(score != 100)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canPass = score &gt;= 50 and attendance &gt;= 0.8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needsSupport = score &lt; 50 or attendance &lt; 0.8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print("Can pass:", canPass)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0" y="1600200"/>
            <a:ext cx="3840480" cy="749808"/>
          </a:xfrm>
          <a:prstGeom prst="roundRect">
            <a:avLst>
              <a:gd name="adj" fmla="val 14634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79792" y="1764792"/>
            <a:ext cx="1965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70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Comparison operators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82912" y="1746504"/>
            <a:ext cx="137160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92500" lnSpcReduction="1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&gt;  &lt;  &gt;=  &lt;=  ==  !=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315200" y="2697480"/>
            <a:ext cx="3840480" cy="749808"/>
          </a:xfrm>
          <a:prstGeom prst="roundRect">
            <a:avLst>
              <a:gd name="adj" fmla="val 14634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79792" y="2862072"/>
            <a:ext cx="1965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59669"/>
                </a:solidFill>
              </a:rPr>
              <a:t>Logic words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82912" y="2843784"/>
            <a:ext cx="137160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and · or · not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7315200" y="3794760"/>
            <a:ext cx="3840480" cy="841248"/>
          </a:xfrm>
          <a:prstGeom prst="roundRect">
            <a:avLst>
              <a:gd name="adj" fmla="val 13043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79792" y="3959352"/>
            <a:ext cx="1965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7C3AED"/>
                </a:solidFill>
              </a:rPr>
              <a:t>Mental model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82912" y="3941064"/>
            <a:ext cx="137160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Condition → True/False → Action</a:t>
            </a:r>
            <a:endParaRPr lang="en-US" sz="14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statements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4B5563"/>
                </a:solidFill>
              </a:rPr>
              <a:t>Use if / elif / else when Python needs to make a decision.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914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463040"/>
            <a:ext cx="5760720" cy="2560320"/>
          </a:xfrm>
          <a:prstGeom prst="roundRect">
            <a:avLst>
              <a:gd name="adj" fmla="val 4286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1627632"/>
            <a:ext cx="5431536" cy="2231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 = 72</a:t>
            </a:r>
            <a:endParaRPr lang="en-US" sz="1800" dirty="0"/>
          </a:p>
          <a:p>
            <a:pPr marL="0" indent="0">
              <a:lnSpc>
                <a:spcPct val="86000"/>
              </a:lnSpc>
              <a:buNone/>
            </a:pPr>
            <a:endParaRPr lang="en-US" sz="18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 score &gt;= 85:</a:t>
            </a:r>
            <a:endParaRPr lang="en-US" sz="18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print("Excellent progress")</a:t>
            </a:r>
            <a:endParaRPr lang="en-US" sz="18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elif score &gt;= 50:</a:t>
            </a:r>
            <a:endParaRPr lang="en-US" sz="18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print("Pass — keep practising")</a:t>
            </a:r>
            <a:endParaRPr lang="en-US" sz="18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else:</a:t>
            </a:r>
            <a:endParaRPr lang="en-US" sz="18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print("Review needed")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86600" y="1572768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51192" y="1737360"/>
            <a:ext cx="502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91272" y="1719072"/>
            <a:ext cx="3017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Use : after condition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086600" y="2624328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51192" y="2788920"/>
            <a:ext cx="502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59669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91272" y="2770632"/>
            <a:ext cx="3017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Indent action lines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7086600" y="3675888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51192" y="3840480"/>
            <a:ext cx="502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7C3AED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91272" y="3822192"/>
            <a:ext cx="3017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First True branch runs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1051560" y="4983480"/>
            <a:ext cx="98755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11827"/>
                </a:solidFill>
              </a:rPr>
              <a:t>Try this: change score to 95, 72 and 40. What changes?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Collections: list, tuple, dictionary, 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dirty="0">
                <a:solidFill>
                  <a:srgbClr val="4B5563"/>
                </a:solidFill>
              </a:rPr>
              <a:t>Most practical Python work means storing many values.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914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b="1" dirty="0">
                <a:solidFill>
                  <a:srgbClr val="2563EB"/>
                </a:solidFill>
              </a:rPr>
              <a:t>Collection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15468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b="1" dirty="0">
                <a:solidFill>
                  <a:srgbClr val="2563EB"/>
                </a:solidFill>
              </a:rPr>
              <a:t>Example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922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b="1" dirty="0">
                <a:solidFill>
                  <a:srgbClr val="2563EB"/>
                </a:solidFill>
              </a:rPr>
              <a:t>Use it for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0561320" cy="585216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2249424"/>
            <a:ext cx="182880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b="1" dirty="0">
                <a:solidFill>
                  <a:srgbClr val="111827"/>
                </a:solidFill>
              </a:rPr>
              <a:t>List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154680" y="2249424"/>
            <a:ext cx="306324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0F17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[80, 90, 75]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2249424"/>
            <a:ext cx="457200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Ordered, changeable data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2880360"/>
            <a:ext cx="1056132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3026664"/>
            <a:ext cx="182880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b="1" dirty="0">
                <a:solidFill>
                  <a:srgbClr val="111827"/>
                </a:solidFill>
              </a:rPr>
              <a:t>Tuple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154680" y="3026664"/>
            <a:ext cx="306324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0F17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("Darwin", "NT")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3026664"/>
            <a:ext cx="457200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Small fixed groups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22960" y="3657600"/>
            <a:ext cx="10561320" cy="585216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3803904"/>
            <a:ext cx="182880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b="1" dirty="0">
                <a:solidFill>
                  <a:srgbClr val="111827"/>
                </a:solidFill>
              </a:rPr>
              <a:t>Dictionary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154680" y="3803904"/>
            <a:ext cx="3063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580" dirty="0">
                <a:solidFill>
                  <a:srgbClr val="0F17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{"name": "Maya", "score": 90}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92240" y="3803904"/>
            <a:ext cx="457200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Labelled records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4434840"/>
            <a:ext cx="1056132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0120" y="4581144"/>
            <a:ext cx="182880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b="1" dirty="0">
                <a:solidFill>
                  <a:srgbClr val="111827"/>
                </a:solidFill>
              </a:rPr>
              <a:t>Set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3154680" y="4581144"/>
            <a:ext cx="306324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0F17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{"AI", "Data"}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2240" y="4581144"/>
            <a:ext cx="457200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Unique values / remove duplicates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1280160" y="5349240"/>
            <a:ext cx="9601200" cy="658368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44752" y="5513832"/>
            <a:ext cx="1965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59669"/>
                </a:solidFill>
              </a:rPr>
              <a:t>80/20 priority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547872" y="5495544"/>
            <a:ext cx="713232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1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Practise lists and dictionaries the most. Learn tuples and sets enough to recognise them.</a:t>
            </a:r>
            <a:endParaRPr lang="en-US" sz="14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Lists &amp; tuples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4B5563"/>
                </a:solidFill>
              </a:rPr>
              <a:t>Use lists for data that can change. Use tuples for simple fixed groups.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914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5669280" cy="2880360"/>
          </a:xfrm>
          <a:prstGeom prst="roundRect">
            <a:avLst>
              <a:gd name="adj" fmla="val 3810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673352"/>
            <a:ext cx="5340096" cy="2551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scores = [80, 90, 75]</a:t>
            </a: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print(scores[0])      # first item</a:t>
            </a: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scores.append(88)    # add item</a:t>
            </a: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print(scores)</a:t>
            </a: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location = ("Darwin", "NT")</a:t>
            </a: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city, state = location</a:t>
            </a: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print(city, state)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995160" y="1600200"/>
            <a:ext cx="4160520" cy="96012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59752" y="1746504"/>
            <a:ext cx="3831336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List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159752" y="2148840"/>
            <a:ext cx="383133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111827"/>
                </a:solidFill>
              </a:rPr>
              <a:t>Ordered + changeable. Good for scores, readings, tasks and rows of data.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995160" y="2852928"/>
            <a:ext cx="4160520" cy="960120"/>
          </a:xfrm>
          <a:prstGeom prst="roundRect">
            <a:avLst>
              <a:gd name="adj" fmla="val 11429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59752" y="2999232"/>
            <a:ext cx="3831336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7C3AED"/>
                </a:solidFill>
              </a:rPr>
              <a:t>Tuple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159752" y="3401568"/>
            <a:ext cx="383133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111827"/>
                </a:solidFill>
              </a:rPr>
              <a:t>Ordered + usually fixed. Good for locations, coordinates or simple pairs.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995160" y="4114800"/>
            <a:ext cx="4160520" cy="96012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59752" y="4261104"/>
            <a:ext cx="3831336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59669"/>
                </a:solidFill>
              </a:rPr>
              <a:t>Beginner tip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159752" y="4663440"/>
            <a:ext cx="383133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111827"/>
                </a:solidFill>
              </a:rPr>
              <a:t>Python indexes start at 0, so the first item is scores[0].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Dictionaries &amp; sets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4B5563"/>
                </a:solidFill>
              </a:rPr>
              <a:t>Use dictionaries for labelled records. Use sets for unique values.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914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389888"/>
            <a:ext cx="5989320" cy="3611880"/>
          </a:xfrm>
          <a:prstGeom prst="roundRect">
            <a:avLst>
              <a:gd name="adj" fmla="val 3038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554480"/>
            <a:ext cx="5660136" cy="3282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student = {</a:t>
            </a:r>
            <a:endParaRPr lang="en-US" sz="158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"name": "Maya",</a:t>
            </a:r>
            <a:endParaRPr lang="en-US" sz="158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"degree": "Engineering",</a:t>
            </a:r>
            <a:endParaRPr lang="en-US" sz="158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"score": 90</a:t>
            </a:r>
            <a:endParaRPr lang="en-US" sz="158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580" dirty="0"/>
          </a:p>
          <a:p>
            <a:pPr marL="0" indent="0">
              <a:lnSpc>
                <a:spcPct val="86000"/>
              </a:lnSpc>
              <a:buNone/>
            </a:pPr>
            <a:endParaRPr lang="en-US" sz="158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print(student["name"])</a:t>
            </a:r>
            <a:endParaRPr lang="en-US" sz="158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student["score"] = 95</a:t>
            </a:r>
            <a:endParaRPr lang="en-US" sz="1580" dirty="0"/>
          </a:p>
          <a:p>
            <a:pPr marL="0" indent="0">
              <a:lnSpc>
                <a:spcPct val="86000"/>
              </a:lnSpc>
              <a:buNone/>
            </a:pPr>
            <a:endParaRPr lang="en-US" sz="158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interests = ["AI", "Data", "AI", "Business"]</a:t>
            </a:r>
            <a:endParaRPr lang="en-US" sz="158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uniqueInterests = set(interests)</a:t>
            </a:r>
            <a:endParaRPr lang="en-US" sz="158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print(uniqueInterests)</a:t>
            </a:r>
            <a:endParaRPr lang="en-US" sz="1580" dirty="0"/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88352" y="1837944"/>
            <a:ext cx="3557016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Dictionary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88352" y="2240280"/>
            <a:ext cx="355701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111827"/>
                </a:solidFill>
              </a:rPr>
              <a:t>Key → value. This is the most useful beginner structure for real-world records.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223760" y="2999232"/>
            <a:ext cx="3886200" cy="9144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88352" y="3163824"/>
            <a:ext cx="502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59669"/>
                </a:solidFill>
              </a:rPr>
              <a:t>Set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28432" y="3145536"/>
            <a:ext cx="2880360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1580" dirty="0">
                <a:solidFill>
                  <a:srgbClr val="111827"/>
                </a:solidFill>
              </a:rPr>
              <a:t>Keeps only unique values. Great for duplicate removal.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7223760" y="4233672"/>
            <a:ext cx="3886200" cy="896112"/>
          </a:xfrm>
          <a:prstGeom prst="roundRect">
            <a:avLst>
              <a:gd name="adj" fmla="val 12245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88352" y="4398264"/>
            <a:ext cx="12344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7C3AED"/>
                </a:solidFill>
              </a:rPr>
              <a:t>Try this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59952" y="4379976"/>
            <a:ext cx="21488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925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Add campus, email or pass_status to the dictionary.</a:t>
            </a:r>
            <a:endParaRPr lang="en-US" sz="14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loops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4B5563"/>
                </a:solidFill>
              </a:rPr>
              <a:t>Repeat the same action for each item in a collection.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914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389888"/>
            <a:ext cx="5715000" cy="329184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554480"/>
            <a:ext cx="5385816" cy="2962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scores = [80, 90, 75]</a:t>
            </a:r>
            <a:endParaRPr lang="en-US" sz="1700" dirty="0"/>
          </a:p>
          <a:p>
            <a:pPr marL="0" indent="0">
              <a:lnSpc>
                <a:spcPct val="86000"/>
              </a:lnSpc>
              <a:buNone/>
            </a:pPr>
            <a:endParaRPr lang="en-US" sz="17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 score in scores:</a:t>
            </a:r>
            <a:endParaRPr lang="en-US" sz="17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print("Score:", score)</a:t>
            </a:r>
            <a:endParaRPr lang="en-US" sz="1700" dirty="0"/>
          </a:p>
          <a:p>
            <a:pPr marL="0" indent="0">
              <a:lnSpc>
                <a:spcPct val="86000"/>
              </a:lnSpc>
              <a:buNone/>
            </a:pPr>
            <a:endParaRPr lang="en-US" sz="17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 score in scores:</a:t>
            </a:r>
            <a:endParaRPr lang="en-US" sz="17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score &gt;= 50:</a:t>
            </a:r>
            <a:endParaRPr lang="en-US" sz="17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print(score, "Pass")</a:t>
            </a:r>
            <a:endParaRPr lang="en-US" sz="17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else:</a:t>
            </a:r>
            <a:endParaRPr lang="en-US" sz="17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print(score, "Review")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086600" y="1664208"/>
            <a:ext cx="3977640" cy="713232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51192" y="1828800"/>
            <a:ext cx="502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91272" y="1810512"/>
            <a:ext cx="29718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Take first item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086600" y="2715768"/>
            <a:ext cx="3977640" cy="713232"/>
          </a:xfrm>
          <a:prstGeom prst="roundRect">
            <a:avLst>
              <a:gd name="adj" fmla="val 15385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51192" y="2880360"/>
            <a:ext cx="502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59669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91272" y="2862072"/>
            <a:ext cx="29718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Run indented code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7086600" y="3767328"/>
            <a:ext cx="3977640" cy="713232"/>
          </a:xfrm>
          <a:prstGeom prst="roundRect">
            <a:avLst>
              <a:gd name="adj" fmla="val 15385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51192" y="3931920"/>
            <a:ext cx="502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7C3AED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91272" y="3913632"/>
            <a:ext cx="29718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Move to next item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7086600" y="4828032"/>
            <a:ext cx="3977640" cy="777240"/>
          </a:xfrm>
          <a:prstGeom prst="roundRect">
            <a:avLst>
              <a:gd name="adj" fmla="val 14118"/>
            </a:avLst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51192" y="4992624"/>
            <a:ext cx="12344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F59E0B"/>
                </a:solidFill>
              </a:rPr>
              <a:t>80/20 rule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22792" y="4974336"/>
            <a:ext cx="2240280" cy="539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1580" dirty="0">
                <a:solidFill>
                  <a:srgbClr val="111827"/>
                </a:solidFill>
              </a:rPr>
              <a:t>Practise for loops first. They are more common for beginner data work than while loops.</a:t>
            </a:r>
            <a:endParaRPr lang="en-US" sz="14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Loop iterable with list and dictionary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dirty="0">
                <a:solidFill>
                  <a:srgbClr val="4B5563"/>
                </a:solidFill>
              </a:rPr>
              <a:t>This is one of the most useful beginner patterns.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914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22860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2563EB"/>
                </a:solidFill>
              </a:rPr>
              <a:t>List loop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5303520" cy="1554480"/>
          </a:xfrm>
          <a:prstGeom prst="roundRect">
            <a:avLst>
              <a:gd name="adj" fmla="val 7059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1993392"/>
            <a:ext cx="4974336" cy="1225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tasks = ["install Python", "run notebook", "write first loop"]</a:t>
            </a: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 task in tasks:</a:t>
            </a:r>
            <a:endParaRPr lang="en-US" sz="17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print("Next task:", task)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446520" y="1554480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520" b="1" dirty="0">
                <a:solidFill>
                  <a:srgbClr val="059669"/>
                </a:solidFill>
              </a:rPr>
              <a:t>Dictionary loop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074920" cy="1554480"/>
          </a:xfrm>
          <a:prstGeom prst="roundRect">
            <a:avLst>
              <a:gd name="adj" fmla="val 7059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9672" y="1993392"/>
            <a:ext cx="4745736" cy="1225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student = {"name": "Maya", "score": 90, "degree": "Engineering"}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 key, value in student.items():</a:t>
            </a:r>
            <a:endParaRPr lang="en-US" sz="16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print(key, "=", value)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234440" y="434340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99032" y="4507992"/>
            <a:ext cx="12344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List loop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70632" y="4489704"/>
            <a:ext cx="2286000" cy="5394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1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Use when you need to do the same thing to every item.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903720" y="434340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68312" y="4507992"/>
            <a:ext cx="1965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59669"/>
                </a:solidFill>
              </a:rPr>
              <a:t>Dictionary loop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71432" y="4489704"/>
            <a:ext cx="1554480" cy="5394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775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Use .items() when you want both label and value.</a:t>
            </a:r>
            <a:endParaRPr lang="en-US" sz="14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While loop — brief 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4B5563"/>
                </a:solidFill>
              </a:rPr>
              <a:t>Repeat while a condition stays True. Use carefully.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914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5577840" cy="2423160"/>
          </a:xfrm>
          <a:prstGeom prst="roundRect">
            <a:avLst>
              <a:gd name="adj" fmla="val 4528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1673352"/>
            <a:ext cx="5248656" cy="2093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practiceDay = 1</a:t>
            </a:r>
            <a:endParaRPr lang="en-US" sz="1800" dirty="0"/>
          </a:p>
          <a:p>
            <a:pPr marL="0" indent="0">
              <a:lnSpc>
                <a:spcPct val="86000"/>
              </a:lnSpc>
              <a:buNone/>
            </a:pPr>
            <a:endParaRPr lang="en-US" sz="18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while practiceDay &lt;= 5:</a:t>
            </a:r>
            <a:endParaRPr lang="en-US" sz="18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print("Practice day", practiceDay)</a:t>
            </a:r>
            <a:endParaRPr lang="en-US" sz="18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practiceDay = practiceDay + 1</a:t>
            </a:r>
            <a:endParaRPr lang="en-US" sz="1800" dirty="0"/>
          </a:p>
          <a:p>
            <a:pPr marL="0" indent="0">
              <a:lnSpc>
                <a:spcPct val="86000"/>
              </a:lnSpc>
              <a:buNone/>
            </a:pPr>
            <a:endParaRPr lang="en-US" sz="18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print("Practice streak complete")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95160" y="169164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59752" y="1856232"/>
            <a:ext cx="1965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When to use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62872" y="1837944"/>
            <a:ext cx="1691640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775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When you do not know exactly how many repeats are needed.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995160" y="2907792"/>
            <a:ext cx="4160520" cy="960120"/>
          </a:xfrm>
          <a:prstGeom prst="roundRect">
            <a:avLst>
              <a:gd name="adj" fmla="val 11429"/>
            </a:avLst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59752" y="3054096"/>
            <a:ext cx="3831336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DC2626"/>
                </a:solidFill>
              </a:rPr>
              <a:t>Beginner risk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159752" y="3456432"/>
            <a:ext cx="3831336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 fontScale="625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dirty="0">
                <a:solidFill>
                  <a:srgbClr val="111827"/>
                </a:solidFill>
              </a:rPr>
              <a:t>If the condition never becomes False, the loop may run forever.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995160" y="4187952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59752" y="4352544"/>
            <a:ext cx="1965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59669"/>
                </a:solidFill>
              </a:rPr>
              <a:t>Workshop priority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62872" y="4334256"/>
            <a:ext cx="1691640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1580" dirty="0">
                <a:solidFill>
                  <a:srgbClr val="111827"/>
                </a:solidFill>
              </a:rPr>
              <a:t>Teach while briefly. Spend most loop practice on for loops.</a:t>
            </a:r>
            <a:endParaRPr lang="en-US" sz="14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dirty="0">
                <a:solidFill>
                  <a:srgbClr val="4B5563"/>
                </a:solidFill>
              </a:rPr>
              <a:t>Package steps into reusable code.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914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6126480" cy="3749040"/>
          </a:xfrm>
          <a:prstGeom prst="roundRect">
            <a:avLst>
              <a:gd name="adj" fmla="val 2927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536192"/>
            <a:ext cx="5797296" cy="3419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 calculatePay(hours, rate):</a:t>
            </a:r>
            <a:endParaRPr lang="en-US" sz="156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pay = hours * rate</a:t>
            </a:r>
            <a:endParaRPr lang="en-US" sz="156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pay</a:t>
            </a:r>
            <a:endParaRPr lang="en-US" sz="1560" dirty="0"/>
          </a:p>
          <a:p>
            <a:pPr marL="0" indent="0">
              <a:lnSpc>
                <a:spcPct val="86000"/>
              </a:lnSpc>
              <a:buNone/>
            </a:pPr>
            <a:endParaRPr lang="en-US" sz="156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 labelScore(score):</a:t>
            </a:r>
            <a:endParaRPr lang="en-US" sz="156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score &gt;= 85:</a:t>
            </a:r>
            <a:endParaRPr lang="en-US" sz="156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return "Excellent"</a:t>
            </a:r>
            <a:endParaRPr lang="en-US" sz="156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elif score &gt;= 50:</a:t>
            </a:r>
            <a:endParaRPr lang="en-US" sz="156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return "Pass"</a:t>
            </a:r>
            <a:endParaRPr lang="en-US" sz="156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else:</a:t>
            </a:r>
            <a:endParaRPr lang="en-US" sz="156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return "Review"</a:t>
            </a:r>
            <a:endParaRPr lang="en-US" sz="1560" dirty="0"/>
          </a:p>
          <a:p>
            <a:pPr marL="0" indent="0">
              <a:lnSpc>
                <a:spcPct val="86000"/>
              </a:lnSpc>
              <a:buNone/>
            </a:pPr>
            <a:endParaRPr lang="en-US" sz="156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print(labelScore(72))</a:t>
            </a:r>
            <a:endParaRPr lang="en-US" sz="1560" dirty="0"/>
          </a:p>
        </p:txBody>
      </p:sp>
      <p:sp>
        <p:nvSpPr>
          <p:cNvPr id="7" name="Shape 5"/>
          <p:cNvSpPr/>
          <p:nvPr/>
        </p:nvSpPr>
        <p:spPr>
          <a:xfrm>
            <a:off x="7178040" y="160020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42632" y="1764792"/>
            <a:ext cx="1965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5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Input → Function → Output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45752" y="1746504"/>
            <a:ext cx="1508760" cy="6309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1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Example: score goes in, label comes out.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178040" y="2743200"/>
            <a:ext cx="3977640" cy="694944"/>
          </a:xfrm>
          <a:prstGeom prst="roundRect">
            <a:avLst>
              <a:gd name="adj" fmla="val 15789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42632" y="2907792"/>
            <a:ext cx="502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59669"/>
                </a:solidFill>
              </a:rPr>
              <a:t>def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82712" y="2889504"/>
            <a:ext cx="29718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Starts a function definition.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7178040" y="3657600"/>
            <a:ext cx="3977640" cy="694944"/>
          </a:xfrm>
          <a:prstGeom prst="roundRect">
            <a:avLst>
              <a:gd name="adj" fmla="val 15789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42632" y="3822192"/>
            <a:ext cx="12344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7C3AED"/>
                </a:solidFill>
              </a:rPr>
              <a:t>parameters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14232" y="3803904"/>
            <a:ext cx="22402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925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Values the function receives.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7178040" y="4572000"/>
            <a:ext cx="3977640" cy="694944"/>
          </a:xfrm>
          <a:prstGeom prst="roundRect">
            <a:avLst>
              <a:gd name="adj" fmla="val 15789"/>
            </a:avLst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42632" y="4736592"/>
            <a:ext cx="12344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F59E0B"/>
                </a:solidFill>
              </a:rPr>
              <a:t>return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14232" y="4718304"/>
            <a:ext cx="22402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925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Sends the answer back.</a:t>
            </a:r>
            <a:endParaRPr lang="en-US" sz="14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Libraries: pip install → import → use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dirty="0">
                <a:solidFill>
                  <a:srgbClr val="4B5563"/>
                </a:solidFill>
              </a:rPr>
              <a:t>Libraries give Python extra powers.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914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554480"/>
            <a:ext cx="5669280" cy="192024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1719072"/>
            <a:ext cx="5340096" cy="1591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 -m pip install pandas matplotlib</a:t>
            </a:r>
            <a:endParaRPr lang="en-US" sz="1900" dirty="0"/>
          </a:p>
          <a:p>
            <a:pPr marL="0" indent="0">
              <a:lnSpc>
                <a:spcPct val="86000"/>
              </a:lnSpc>
              <a:buNone/>
            </a:pPr>
            <a:endParaRPr lang="en-US" sz="19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pandas as pd</a:t>
            </a:r>
            <a:endParaRPr lang="en-US" sz="19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matplotlib.pyplot as plt</a:t>
            </a:r>
            <a:endParaRPr lang="en-US" sz="1900" dirty="0"/>
          </a:p>
          <a:p>
            <a:pPr marL="0" indent="0">
              <a:lnSpc>
                <a:spcPct val="86000"/>
              </a:lnSpc>
              <a:buNone/>
            </a:pPr>
            <a:endParaRPr lang="en-US" sz="19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install once, import in each project/notebook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995160" y="1600200"/>
            <a:ext cx="4069080" cy="777240"/>
          </a:xfrm>
          <a:prstGeom prst="roundRect">
            <a:avLst>
              <a:gd name="adj" fmla="val 14118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59752" y="1764792"/>
            <a:ext cx="12344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pandas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31352" y="1746504"/>
            <a:ext cx="2331720" cy="5394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1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Tables, CSV files, data cleaning and simple analysis.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995160" y="2651760"/>
            <a:ext cx="4069080" cy="777240"/>
          </a:xfrm>
          <a:prstGeom prst="roundRect">
            <a:avLst>
              <a:gd name="adj" fmla="val 14118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59752" y="2816352"/>
            <a:ext cx="12344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59669"/>
                </a:solidFill>
              </a:rPr>
              <a:t>matplotlib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31352" y="2798064"/>
            <a:ext cx="2331720" cy="5394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lnSpcReduction="1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Charts, trends and visualisation.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995160" y="3703320"/>
            <a:ext cx="4069080" cy="777240"/>
          </a:xfrm>
          <a:prstGeom prst="roundRect">
            <a:avLst>
              <a:gd name="adj" fmla="val 14118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59752" y="3867912"/>
            <a:ext cx="12344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7C3AED"/>
                </a:solidFill>
              </a:rPr>
              <a:t>NumPy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31352" y="3849624"/>
            <a:ext cx="2331720" cy="5394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775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Arrays and numerical computing. Learn more after basics.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1920240" y="5074920"/>
            <a:ext cx="8321040" cy="685800"/>
          </a:xfrm>
          <a:prstGeom prst="roundRect">
            <a:avLst>
              <a:gd name="adj" fmla="val 16000"/>
            </a:avLst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84832" y="5239512"/>
            <a:ext cx="1965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F59E0B"/>
                </a:solidFill>
              </a:rPr>
              <a:t>80/20 library habit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87952" y="5221224"/>
            <a:ext cx="585216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1580" dirty="0">
                <a:solidFill>
                  <a:srgbClr val="111827"/>
                </a:solidFill>
              </a:rPr>
              <a:t>Install package → import package → use package.</a:t>
            </a:r>
            <a:endParaRPr lang="en-US" sz="14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 data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830" dirty="0">
                <a:solidFill>
                  <a:srgbClr val="4B5563"/>
                </a:solidFill>
              </a:rPr>
              <a:t>A practical pattern students can reuse at work.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914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5989320" cy="3429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" y="1517904"/>
            <a:ext cx="5660136" cy="3099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pandas as pd</a:t>
            </a:r>
            <a:endParaRPr lang="en-US" sz="1630" dirty="0"/>
          </a:p>
          <a:p>
            <a:pPr marL="0" indent="0">
              <a:lnSpc>
                <a:spcPct val="86000"/>
              </a:lnSpc>
              <a:buNone/>
            </a:pPr>
            <a:endParaRPr lang="en-US" sz="163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records = [</a:t>
            </a:r>
            <a:endParaRPr lang="en-US" sz="163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{"name": "Maya", "score": 90},</a:t>
            </a:r>
            <a:endParaRPr lang="en-US" sz="163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{"name": "Leo", "score": 72},</a:t>
            </a:r>
            <a:endParaRPr lang="en-US" sz="163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{"name": "Ava", "score": 48}</a:t>
            </a:r>
            <a:endParaRPr lang="en-US" sz="163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]</a:t>
            </a:r>
            <a:endParaRPr lang="en-US" sz="1630" dirty="0"/>
          </a:p>
          <a:p>
            <a:pPr marL="0" indent="0">
              <a:lnSpc>
                <a:spcPct val="86000"/>
              </a:lnSpc>
              <a:buNone/>
            </a:pPr>
            <a:endParaRPr lang="en-US" sz="163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df = pd.DataFrame(records)</a:t>
            </a:r>
            <a:endParaRPr lang="en-US" sz="163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print(df)</a:t>
            </a:r>
            <a:endParaRPr lang="en-US" sz="163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print(df["score"].mean())</a:t>
            </a:r>
            <a:endParaRPr lang="en-US" sz="1630" dirty="0"/>
          </a:p>
        </p:txBody>
      </p:sp>
      <p:sp>
        <p:nvSpPr>
          <p:cNvPr id="7" name="Shape 5"/>
          <p:cNvSpPr/>
          <p:nvPr/>
        </p:nvSpPr>
        <p:spPr>
          <a:xfrm>
            <a:off x="7086600" y="1481328"/>
            <a:ext cx="3703320" cy="594360"/>
          </a:xfrm>
          <a:prstGeom prst="roundRect">
            <a:avLst>
              <a:gd name="adj" fmla="val 18462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51192" y="1645920"/>
            <a:ext cx="12344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563EB"/>
                </a:solidFill>
              </a:rPr>
              <a:t>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22792" y="1627632"/>
            <a:ext cx="19659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list / dict / CSV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8915400" y="2112264"/>
            <a:ext cx="0" cy="164592"/>
          </a:xfrm>
          <a:prstGeom prst="line">
            <a:avLst/>
          </a:prstGeom>
          <a:noFill/>
          <a:ln w="2794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86600" y="2350008"/>
            <a:ext cx="3703320" cy="594360"/>
          </a:xfrm>
          <a:prstGeom prst="roundRect">
            <a:avLst>
              <a:gd name="adj" fmla="val 18462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51192" y="2514600"/>
            <a:ext cx="12344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59669"/>
                </a:solidFill>
              </a:rPr>
              <a:t>pandas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22792" y="2496312"/>
            <a:ext cx="19659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table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8915400" y="2980944"/>
            <a:ext cx="0" cy="164592"/>
          </a:xfrm>
          <a:prstGeom prst="line">
            <a:avLst/>
          </a:prstGeom>
          <a:noFill/>
          <a:ln w="2794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86600" y="3218688"/>
            <a:ext cx="3703320" cy="594360"/>
          </a:xfrm>
          <a:prstGeom prst="roundRect">
            <a:avLst>
              <a:gd name="adj" fmla="val 18462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51192" y="3383280"/>
            <a:ext cx="12344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7C3AED"/>
                </a:solidFill>
              </a:rPr>
              <a:t>Analyse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22792" y="3364992"/>
            <a:ext cx="19659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mean / max / filter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8915400" y="3849624"/>
            <a:ext cx="0" cy="164592"/>
          </a:xfrm>
          <a:prstGeom prst="line">
            <a:avLst/>
          </a:prstGeom>
          <a:noFill/>
          <a:ln w="2794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86600" y="4087368"/>
            <a:ext cx="3703320" cy="594360"/>
          </a:xfrm>
          <a:prstGeom prst="roundRect">
            <a:avLst>
              <a:gd name="adj" fmla="val 18462"/>
            </a:avLst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51192" y="4251960"/>
            <a:ext cx="12344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F59E0B"/>
                </a:solidFill>
              </a:rPr>
              <a:t>Chart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22792" y="4233672"/>
            <a:ext cx="19659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matplotlib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7086600" y="5074920"/>
            <a:ext cx="3703320" cy="731520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CBD5E1">
                <a:alpha val="18000"/>
              </a:srgbClr>
            </a:outerShdw>
          </a:effectLst>
        </p:spPr>
        <p:txBody>
          <a:bodyPr wrap="square" lIns="38100" tIns="38100" rIns="38100" bIns="38100"/>
          <a:lstStyle/>
          <a:p>
            <a:pPr>
              <a:lnSpc>
                <a:spcPct val="96000"/>
              </a:lnSpc>
            </a:pP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51192" y="5239512"/>
            <a:ext cx="1965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850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059669"/>
                </a:solidFill>
              </a:rPr>
              <a:t>Mini project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54312" y="5221224"/>
            <a:ext cx="123444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 fontScale="47500" lnSpcReduction="20000"/>
          </a:bodyPr>
          <a:lstStyle/>
          <a:p>
            <a:pPr marL="0" indent="0">
              <a:lnSpc>
                <a:spcPct val="96000"/>
              </a:lnSpc>
              <a:buNone/>
            </a:pPr>
            <a:r>
              <a:rPr lang="en-US" sz="1680" dirty="0">
                <a:solidFill>
                  <a:srgbClr val="111827"/>
                </a:solidFill>
              </a:rPr>
              <a:t>Student score report: store records, label status, calculate average, show a chart.</a:t>
            </a:r>
            <a:endParaRPr lang="en-US" sz="14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3000" b="1">
                <a:solidFill>
                  <a:srgbClr val="0D182A"/>
                </a:solidFill>
                <a:latin typeface="Aptos"/>
              </a:rPr>
              <a:t>Final mini-project 1: create a CSV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155680" cy="2743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500" b="0">
                <a:solidFill>
                  <a:srgbClr val="525F73"/>
                </a:solidFill>
                <a:latin typeface="Aptos"/>
              </a:rPr>
              <a:t>Use everything from the workshop: variables, if/else, loop, function, pandas, matplotlib and CSV output.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987552"/>
            <a:ext cx="1051560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42416"/>
            <a:ext cx="960119" cy="219456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250" b="1">
                <a:solidFill>
                  <a:srgbClr val="0D182A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987552"/>
            <a:ext cx="1051560" cy="34747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79" y="1042416"/>
            <a:ext cx="960119" cy="219456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250" b="1">
                <a:solidFill>
                  <a:srgbClr val="0D182A"/>
                </a:solidFill>
                <a:latin typeface="Aptos"/>
              </a:rPr>
              <a:t>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987552"/>
            <a:ext cx="1051560" cy="347472"/>
          </a:xfrm>
          <a:prstGeom prst="round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042416"/>
            <a:ext cx="960119" cy="219456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250" b="1">
                <a:solidFill>
                  <a:srgbClr val="0D182A"/>
                </a:solidFill>
                <a:latin typeface="Aptos"/>
              </a:rPr>
              <a:t>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987552"/>
            <a:ext cx="1417320" cy="347472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042416"/>
            <a:ext cx="1325880" cy="219456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250" b="1">
                <a:solidFill>
                  <a:srgbClr val="0D182A"/>
                </a:solidFill>
                <a:latin typeface="Aptos"/>
              </a:rPr>
              <a:t>DataFrame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987552"/>
            <a:ext cx="1051560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042416"/>
            <a:ext cx="960119" cy="219456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250" b="1">
                <a:solidFill>
                  <a:srgbClr val="0D182A"/>
                </a:solidFill>
                <a:latin typeface="Aptos"/>
              </a:rPr>
              <a:t>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987552"/>
            <a:ext cx="1051560" cy="34747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0" y="1042416"/>
            <a:ext cx="960119" cy="219456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250" b="1">
                <a:solidFill>
                  <a:srgbClr val="0D182A"/>
                </a:solidFill>
                <a:latin typeface="Aptos"/>
              </a:rPr>
              <a:t>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1024128"/>
            <a:ext cx="228600" cy="219456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500" b="1">
                <a:solidFill>
                  <a:srgbClr val="525F73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1024128"/>
            <a:ext cx="228600" cy="219456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500" b="1">
                <a:solidFill>
                  <a:srgbClr val="525F73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024128"/>
            <a:ext cx="228600" cy="219456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500" b="1">
                <a:solidFill>
                  <a:srgbClr val="525F73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024128"/>
            <a:ext cx="228600" cy="219456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500" b="1">
                <a:solidFill>
                  <a:srgbClr val="525F73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1024128"/>
            <a:ext cx="228600" cy="219456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500" b="1">
                <a:solidFill>
                  <a:srgbClr val="525F73"/>
                </a:solidFill>
                <a:latin typeface="Aptos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508760"/>
            <a:ext cx="3520440" cy="2880360"/>
          </a:xfrm>
          <a:prstGeom prst="rect">
            <a:avLst/>
          </a:prstGeom>
          <a:solidFill>
            <a:srgbClr val="071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1636776"/>
            <a:ext cx="3118104" cy="26243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88000"/>
              </a:lnSpc>
            </a:pPr>
            <a:r>
              <a:rPr sz="1270">
                <a:solidFill>
                  <a:srgbClr val="F0F7FF"/>
                </a:solidFill>
                <a:latin typeface="Consolas"/>
              </a:rPr>
              <a:t>import pandas as pd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import matplotlib.pyplot as plt</a:t>
            </a:r>
            <a:br/>
            <a:br/>
            <a:r>
              <a:rPr sz="1270">
                <a:solidFill>
                  <a:srgbClr val="F0F7FF"/>
                </a:solidFill>
                <a:latin typeface="Consolas"/>
              </a:rPr>
              <a:t>students = [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    {"name":"Maya", "score":85},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    {"name":"Leo",  "score":62},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    {"name":"Ava",  "score":45},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1508760"/>
            <a:ext cx="3703320" cy="2880360"/>
          </a:xfrm>
          <a:prstGeom prst="rect">
            <a:avLst/>
          </a:prstGeom>
          <a:solidFill>
            <a:srgbClr val="071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61688" y="1636776"/>
            <a:ext cx="3300984" cy="26243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88000"/>
              </a:lnSpc>
            </a:pPr>
            <a:r>
              <a:rPr sz="1270">
                <a:solidFill>
                  <a:srgbClr val="F0F7FF"/>
                </a:solidFill>
                <a:latin typeface="Consolas"/>
              </a:rPr>
              <a:t>def get_status(score):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    if score &gt;= 50: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        return "Pass"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    else: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        return "Review"</a:t>
            </a:r>
            <a:br/>
            <a:br/>
            <a:r>
              <a:rPr sz="1270">
                <a:solidFill>
                  <a:srgbClr val="F0F7FF"/>
                </a:solidFill>
                <a:latin typeface="Consolas"/>
              </a:rPr>
              <a:t>for student in students: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    student["status"] = get_status(student["score"])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1508760"/>
            <a:ext cx="3703320" cy="2880360"/>
          </a:xfrm>
          <a:prstGeom prst="rect">
            <a:avLst/>
          </a:prstGeom>
          <a:solidFill>
            <a:srgbClr val="071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93608" y="1636776"/>
            <a:ext cx="3300984" cy="26243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88000"/>
              </a:lnSpc>
            </a:pPr>
            <a:r>
              <a:rPr sz="1270" dirty="0" err="1">
                <a:solidFill>
                  <a:srgbClr val="F0F7FF"/>
                </a:solidFill>
                <a:latin typeface="Consolas"/>
              </a:rPr>
              <a:t>df</a:t>
            </a:r>
            <a:r>
              <a:rPr sz="1270" dirty="0">
                <a:solidFill>
                  <a:srgbClr val="F0F7FF"/>
                </a:solidFill>
                <a:latin typeface="Consolas"/>
              </a:rPr>
              <a:t> = </a:t>
            </a:r>
            <a:r>
              <a:rPr sz="1270" dirty="0" err="1">
                <a:solidFill>
                  <a:srgbClr val="F0F7FF"/>
                </a:solidFill>
                <a:latin typeface="Consolas"/>
              </a:rPr>
              <a:t>pd.DataFrame</a:t>
            </a:r>
            <a:r>
              <a:rPr sz="1270" dirty="0">
                <a:solidFill>
                  <a:srgbClr val="F0F7FF"/>
                </a:solidFill>
                <a:latin typeface="Consolas"/>
              </a:rPr>
              <a:t>(students)</a:t>
            </a:r>
            <a:br>
              <a:rPr dirty="0"/>
            </a:br>
            <a:r>
              <a:rPr sz="1270" dirty="0" err="1">
                <a:solidFill>
                  <a:srgbClr val="F0F7FF"/>
                </a:solidFill>
                <a:latin typeface="Consolas"/>
              </a:rPr>
              <a:t>df.to_csv</a:t>
            </a:r>
            <a:r>
              <a:rPr sz="1270" dirty="0">
                <a:solidFill>
                  <a:srgbClr val="F0F7FF"/>
                </a:solidFill>
                <a:latin typeface="Consolas"/>
              </a:rPr>
              <a:t>("student_scores.csv", index=False)</a:t>
            </a:r>
            <a:br>
              <a:rPr dirty="0"/>
            </a:br>
            <a:br>
              <a:rPr dirty="0"/>
            </a:br>
            <a:r>
              <a:rPr sz="1270" dirty="0">
                <a:solidFill>
                  <a:srgbClr val="F0F7FF"/>
                </a:solidFill>
                <a:latin typeface="Consolas"/>
              </a:rPr>
              <a:t>print(</a:t>
            </a:r>
            <a:r>
              <a:rPr sz="1270" dirty="0" err="1">
                <a:solidFill>
                  <a:srgbClr val="F0F7FF"/>
                </a:solidFill>
                <a:latin typeface="Consolas"/>
              </a:rPr>
              <a:t>df</a:t>
            </a:r>
            <a:r>
              <a:rPr sz="1270" dirty="0">
                <a:solidFill>
                  <a:srgbClr val="F0F7FF"/>
                </a:solidFill>
                <a:latin typeface="Consolas"/>
              </a:rPr>
              <a:t>)</a:t>
            </a:r>
            <a:br>
              <a:rPr dirty="0"/>
            </a:br>
            <a:r>
              <a:rPr sz="1270" dirty="0">
                <a:solidFill>
                  <a:srgbClr val="F0F7FF"/>
                </a:solidFill>
                <a:latin typeface="Consolas"/>
              </a:rPr>
              <a:t>print("Average:", </a:t>
            </a:r>
            <a:r>
              <a:rPr sz="1270" dirty="0" err="1">
                <a:solidFill>
                  <a:srgbClr val="F0F7FF"/>
                </a:solidFill>
                <a:latin typeface="Consolas"/>
              </a:rPr>
              <a:t>df</a:t>
            </a:r>
            <a:r>
              <a:rPr sz="1270" dirty="0">
                <a:solidFill>
                  <a:srgbClr val="F0F7FF"/>
                </a:solidFill>
                <a:latin typeface="Consolas"/>
              </a:rPr>
              <a:t>["score"].mean())</a:t>
            </a:r>
            <a:br>
              <a:rPr dirty="0"/>
            </a:br>
            <a:br>
              <a:rPr dirty="0"/>
            </a:br>
            <a:r>
              <a:rPr sz="1270" dirty="0" err="1">
                <a:solidFill>
                  <a:srgbClr val="F0F7FF"/>
                </a:solidFill>
                <a:latin typeface="Consolas"/>
              </a:rPr>
              <a:t>df.plot</a:t>
            </a:r>
            <a:r>
              <a:rPr sz="1270" dirty="0">
                <a:solidFill>
                  <a:srgbClr val="F0F7FF"/>
                </a:solidFill>
                <a:latin typeface="Consolas"/>
              </a:rPr>
              <a:t>(x="name", y="score", kind="bar")</a:t>
            </a:r>
            <a:br>
              <a:rPr dirty="0"/>
            </a:br>
            <a:r>
              <a:rPr sz="1270" dirty="0" err="1">
                <a:solidFill>
                  <a:srgbClr val="F0F7FF"/>
                </a:solidFill>
                <a:latin typeface="Consolas"/>
              </a:rPr>
              <a:t>plt.title</a:t>
            </a:r>
            <a:r>
              <a:rPr sz="1270" dirty="0">
                <a:solidFill>
                  <a:srgbClr val="F0F7FF"/>
                </a:solidFill>
                <a:latin typeface="Consolas"/>
              </a:rPr>
              <a:t>("Student Score Report")</a:t>
            </a:r>
            <a:br>
              <a:rPr dirty="0"/>
            </a:br>
            <a:r>
              <a:rPr sz="1270" dirty="0" err="1">
                <a:solidFill>
                  <a:srgbClr val="F0F7FF"/>
                </a:solidFill>
                <a:latin typeface="Consolas"/>
              </a:rPr>
              <a:t>plt.show</a:t>
            </a:r>
            <a:r>
              <a:rPr sz="1270" dirty="0">
                <a:solidFill>
                  <a:srgbClr val="F0F7FF"/>
                </a:solidFill>
                <a:latin typeface="Consolas"/>
              </a:rPr>
              <a:t>()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645152"/>
            <a:ext cx="3657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718304"/>
            <a:ext cx="320040" cy="256032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600" b="1">
                <a:solidFill>
                  <a:srgbClr val="0D182A"/>
                </a:solidFill>
                <a:latin typeface="Apto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718304"/>
            <a:ext cx="3108960" cy="246888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500" b="1">
                <a:solidFill>
                  <a:srgbClr val="0D182A"/>
                </a:solidFill>
                <a:latin typeface="Aptos"/>
              </a:rPr>
              <a:t>What students see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029200"/>
            <a:ext cx="3108960" cy="54864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230" b="0" dirty="0">
                <a:solidFill>
                  <a:srgbClr val="525F73"/>
                </a:solidFill>
                <a:latin typeface="Aptos"/>
              </a:rPr>
              <a:t>The program creates student data, labels each result, saves a CSV file, prints a summary and shows a simple bar chart.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645152"/>
            <a:ext cx="3657600" cy="9601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4718304"/>
            <a:ext cx="320040" cy="256032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600" b="1">
                <a:solidFill>
                  <a:srgbClr val="0D182A"/>
                </a:solidFill>
                <a:latin typeface="Apto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718304"/>
            <a:ext cx="3108960" cy="246888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500" b="1">
                <a:solidFill>
                  <a:srgbClr val="0D182A"/>
                </a:solidFill>
                <a:latin typeface="Aptos"/>
              </a:rPr>
              <a:t>What students practise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029200"/>
            <a:ext cx="3108960" cy="54864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230" b="0" dirty="0">
                <a:solidFill>
                  <a:srgbClr val="525F73"/>
                </a:solidFill>
                <a:latin typeface="Aptos"/>
              </a:rPr>
              <a:t>Reading code from top to bottom and explaining what each step does in plain English.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4645152"/>
            <a:ext cx="3611880" cy="960120"/>
          </a:xfrm>
          <a:prstGeom prst="round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75319" y="4718304"/>
            <a:ext cx="320040" cy="256032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600" b="1">
                <a:solidFill>
                  <a:srgbClr val="0D182A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4718304"/>
            <a:ext cx="3063240" cy="246888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500" b="1">
                <a:solidFill>
                  <a:srgbClr val="0D182A"/>
                </a:solidFill>
                <a:latin typeface="Aptos"/>
              </a:rPr>
              <a:t>Small change task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5029200"/>
            <a:ext cx="3063240" cy="54864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230" b="0">
                <a:solidFill>
                  <a:srgbClr val="525F73"/>
                </a:solidFill>
                <a:latin typeface="Aptos"/>
              </a:rPr>
              <a:t>Add one more student, change a score and run the program again.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3000" b="1">
                <a:solidFill>
                  <a:srgbClr val="0D182A"/>
                </a:solidFill>
                <a:latin typeface="Aptos"/>
              </a:rPr>
              <a:t>Final mini-project 2: read, process and visualise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155680" cy="2743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500" b="0">
                <a:solidFill>
                  <a:srgbClr val="525F73"/>
                </a:solidFill>
                <a:latin typeface="Aptos"/>
              </a:rPr>
              <a:t>Read the CSV created by project 1, then use pandas and matplotlib to answer simple questions.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2377440" cy="6858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33272"/>
            <a:ext cx="320040" cy="256032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600" b="1">
                <a:solidFill>
                  <a:srgbClr val="0D182A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33272"/>
            <a:ext cx="1828800" cy="246888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400" b="1">
                <a:solidFill>
                  <a:srgbClr val="0D182A"/>
                </a:solidFill>
                <a:latin typeface="Aptos"/>
              </a:rPr>
              <a:t>Question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44168"/>
            <a:ext cx="1828800" cy="2743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150" b="0">
                <a:solidFill>
                  <a:srgbClr val="525F73"/>
                </a:solidFill>
                <a:latin typeface="Aptos"/>
              </a:rPr>
              <a:t>What does the file contain?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960120"/>
            <a:ext cx="2743200" cy="6858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40" y="1033272"/>
            <a:ext cx="320040" cy="256032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600" b="1">
                <a:solidFill>
                  <a:srgbClr val="0D182A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033272"/>
            <a:ext cx="2194560" cy="246888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400" b="1">
                <a:solidFill>
                  <a:srgbClr val="0D182A"/>
                </a:solidFill>
                <a:latin typeface="Aptos"/>
              </a:rPr>
              <a:t>Question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344168"/>
            <a:ext cx="2194560" cy="2743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150" b="0">
                <a:solidFill>
                  <a:srgbClr val="525F73"/>
                </a:solidFill>
                <a:latin typeface="Aptos"/>
              </a:rPr>
              <a:t>How many passed or need review?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960120"/>
            <a:ext cx="2743200" cy="685800"/>
          </a:xfrm>
          <a:prstGeom prst="round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9320" y="1033272"/>
            <a:ext cx="320040" cy="256032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600" b="1">
                <a:solidFill>
                  <a:srgbClr val="0D182A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033272"/>
            <a:ext cx="2194560" cy="246888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400" b="1">
                <a:solidFill>
                  <a:srgbClr val="0D182A"/>
                </a:solidFill>
                <a:latin typeface="Aptos"/>
              </a:rPr>
              <a:t>Question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344168"/>
            <a:ext cx="2194560" cy="2743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150" b="0">
                <a:solidFill>
                  <a:srgbClr val="525F73"/>
                </a:solidFill>
                <a:latin typeface="Aptos"/>
              </a:rPr>
              <a:t>What is the average and highest score?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960120"/>
            <a:ext cx="2606040" cy="6858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15400" y="1033272"/>
            <a:ext cx="320040" cy="256032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600" b="1">
                <a:solidFill>
                  <a:srgbClr val="0D182A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033272"/>
            <a:ext cx="2057400" cy="246888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400" b="1">
                <a:solidFill>
                  <a:srgbClr val="0D182A"/>
                </a:solidFill>
                <a:latin typeface="Aptos"/>
              </a:rPr>
              <a:t>Question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344168"/>
            <a:ext cx="2057400" cy="2743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150" b="0">
                <a:solidFill>
                  <a:srgbClr val="525F73"/>
                </a:solidFill>
                <a:latin typeface="Aptos"/>
              </a:rPr>
              <a:t>Can we show it visually?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874519"/>
            <a:ext cx="5486400" cy="3520440"/>
          </a:xfrm>
          <a:prstGeom prst="rect">
            <a:avLst/>
          </a:prstGeom>
          <a:solidFill>
            <a:srgbClr val="071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2002536"/>
            <a:ext cx="5084064" cy="32644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88000"/>
              </a:lnSpc>
            </a:pPr>
            <a:r>
              <a:rPr sz="1270">
                <a:solidFill>
                  <a:srgbClr val="F0F7FF"/>
                </a:solidFill>
                <a:latin typeface="Consolas"/>
              </a:rPr>
              <a:t>import pandas as pd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import matplotlib.pyplot as plt</a:t>
            </a:r>
            <a:br/>
            <a:br/>
            <a:r>
              <a:rPr sz="1270">
                <a:solidFill>
                  <a:srgbClr val="F0F7FF"/>
                </a:solidFill>
                <a:latin typeface="Consolas"/>
              </a:rPr>
              <a:t>df = pd.read_csv("student_scores.csv")</a:t>
            </a:r>
            <a:br/>
            <a:br/>
            <a:r>
              <a:rPr sz="1270">
                <a:solidFill>
                  <a:srgbClr val="F0F7FF"/>
                </a:solidFill>
                <a:latin typeface="Consolas"/>
              </a:rPr>
              <a:t>print(df.head())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print(df["status"].value_counts())</a:t>
            </a:r>
            <a:br/>
            <a:br/>
            <a:r>
              <a:rPr sz="1270">
                <a:solidFill>
                  <a:srgbClr val="F0F7FF"/>
                </a:solidFill>
                <a:latin typeface="Consolas"/>
              </a:rPr>
              <a:t>average_score = df["score"].mean()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highest_score = df["score"].max()</a:t>
            </a:r>
            <a:br/>
            <a:br/>
            <a:r>
              <a:rPr sz="1270">
                <a:solidFill>
                  <a:srgbClr val="F0F7FF"/>
                </a:solidFill>
                <a:latin typeface="Consolas"/>
              </a:rPr>
              <a:t>print("Average:", average_score)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print("Highest:", highest_score)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874519"/>
            <a:ext cx="5486400" cy="3520440"/>
          </a:xfrm>
          <a:prstGeom prst="rect">
            <a:avLst/>
          </a:prstGeom>
          <a:solidFill>
            <a:srgbClr val="071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2002536"/>
            <a:ext cx="5084064" cy="32644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88000"/>
              </a:lnSpc>
            </a:pPr>
            <a:r>
              <a:rPr sz="1270">
                <a:solidFill>
                  <a:srgbClr val="F0F7FF"/>
                </a:solidFill>
                <a:latin typeface="Consolas"/>
              </a:rPr>
              <a:t>passed_students = df[df["status"] == "Pass"]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print(passed_students)</a:t>
            </a:r>
            <a:br/>
            <a:br/>
            <a:r>
              <a:rPr sz="1270">
                <a:solidFill>
                  <a:srgbClr val="F0F7FF"/>
                </a:solidFill>
                <a:latin typeface="Consolas"/>
              </a:rPr>
              <a:t>df.plot(x="name", y="score", kind="bar")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plt.axhline(y=50, linestyle="--")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plt.title("Pass Line and Student Scores")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plt.xlabel("Student")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plt.ylabel("Score")</a:t>
            </a:r>
            <a:br/>
            <a:r>
              <a:rPr sz="1270">
                <a:solidFill>
                  <a:srgbClr val="F0F7FF"/>
                </a:solidFill>
                <a:latin typeface="Consolas"/>
              </a:rPr>
              <a:t>plt.show()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504688"/>
            <a:ext cx="11384280" cy="566928"/>
          </a:xfrm>
          <a:prstGeom prst="round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614416"/>
            <a:ext cx="11155680" cy="312906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1700" b="1" dirty="0">
                <a:solidFill>
                  <a:srgbClr val="0D182A"/>
                </a:solidFill>
                <a:latin typeface="Aptos"/>
              </a:rPr>
              <a:t>Plain-English pattern: read file → inspect data → calculate summary → filter rows → </a:t>
            </a:r>
            <a:r>
              <a:rPr sz="1700" b="1" dirty="0" err="1">
                <a:solidFill>
                  <a:srgbClr val="0D182A"/>
                </a:solidFill>
                <a:latin typeface="Aptos"/>
              </a:rPr>
              <a:t>visuali</a:t>
            </a:r>
            <a:r>
              <a:rPr lang="en-AU" sz="1700" b="1" dirty="0">
                <a:solidFill>
                  <a:srgbClr val="0D182A"/>
                </a:solidFill>
                <a:latin typeface="Aptos"/>
              </a:rPr>
              <a:t>z</a:t>
            </a:r>
            <a:r>
              <a:rPr sz="1700" b="1" dirty="0">
                <a:solidFill>
                  <a:srgbClr val="0D182A"/>
                </a:solidFill>
                <a:latin typeface="Aptos"/>
              </a:rPr>
              <a:t>e result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3000" b="1">
                <a:solidFill>
                  <a:srgbClr val="0D182A"/>
                </a:solidFill>
                <a:latin typeface="Aptos"/>
              </a:rPr>
              <a:t>What to learn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155680" cy="2743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500" b="0">
                <a:solidFill>
                  <a:srgbClr val="525F73"/>
                </a:solidFill>
                <a:latin typeface="Aptos"/>
              </a:rPr>
              <a:t>After this beginner workshop, keep growing in the most useful direction.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3566160" cy="14173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124712"/>
            <a:ext cx="3017520" cy="246888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2000" b="1">
                <a:solidFill>
                  <a:srgbClr val="0D182A"/>
                </a:solidFill>
                <a:latin typeface="Aptos"/>
              </a:rPr>
              <a:t>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35607"/>
            <a:ext cx="3017520" cy="100584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r>
              <a:rPr sz="1320" b="0" dirty="0">
                <a:solidFill>
                  <a:srgbClr val="525F73"/>
                </a:solidFill>
                <a:latin typeface="Aptos"/>
              </a:rPr>
              <a:t>Classes, objects, attributes, methods and inheritance. Model real things in code.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5806440"/>
            <a:ext cx="2240280" cy="347472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 algn="ctr"/>
            <a:r>
              <a:rPr sz="2400" b="1">
                <a:solidFill>
                  <a:srgbClr val="0D182A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3233</Words>
  <Application>Microsoft Office PowerPoint</Application>
  <PresentationFormat>Widescreen</PresentationFormat>
  <Paragraphs>560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Abadi ExtraLight</vt:lpstr>
      <vt:lpstr>Aptos</vt:lpstr>
      <vt:lpstr>Aptos Display</vt:lpstr>
      <vt:lpstr>Arial</vt:lpstr>
      <vt:lpstr>Cascadia Mono</vt:lpstr>
      <vt:lpstr>Consolas</vt:lpstr>
      <vt:lpstr>DejaVu Sans Mono</vt:lpstr>
      <vt:lpstr>Dreaming Outloud Script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Work — Beginner Seminar</dc:title>
  <dc:subject>CDU beginner Python workshop</dc:subject>
  <dc:creator>OpenAI</dc:creator>
  <cp:lastModifiedBy>Dang Khoa Pham</cp:lastModifiedBy>
  <cp:revision>4</cp:revision>
  <dcterms:created xsi:type="dcterms:W3CDTF">2026-07-24T11:32:54Z</dcterms:created>
  <dcterms:modified xsi:type="dcterms:W3CDTF">2026-07-26T01:34:16Z</dcterms:modified>
</cp:coreProperties>
</file>